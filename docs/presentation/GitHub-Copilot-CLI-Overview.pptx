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platform.openai.com/tokenizer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3550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00" b="0" i="0">
                <a:solidFill>
                  <a:srgbClr val="8B949E"/>
                </a:solidFill>
                <a:latin typeface="Helvetica Neue"/>
              </a:rPr>
              <a:t>GitHub Copilot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7709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Menlo"/>
              </a:rPr>
              <a:t>01 / 57</a:t>
            </a:r>
          </a:p>
        </p:txBody>
      </p:sp>
      <p:sp>
        <p:nvSpPr>
          <p:cNvPr id="4" name="Oval 3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noFill/>
          <a:ln w="1905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46888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1" i="0">
                <a:solidFill>
                  <a:srgbClr val="3FB950"/>
                </a:solidFill>
                <a:latin typeface="Helvetica Neue"/>
              </a:rPr>
              <a:t>WORKSHOP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3464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5600" b="1" i="0">
                <a:solidFill>
                  <a:srgbClr val="E6EDF3"/>
                </a:solidFill>
                <a:latin typeface="Helvetica Neue"/>
              </a:rPr>
              <a:t>GitHub Copilot CLI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1148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000" b="0" i="0">
                <a:solidFill>
                  <a:srgbClr val="8B949E"/>
                </a:solidFill>
                <a:latin typeface="Helvetica Neue"/>
              </a:rPr>
              <a:t>Deep dive pro vývojářský tým — modely, kontext, agenti a nástroje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3550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00" b="0" i="0">
                <a:solidFill>
                  <a:srgbClr val="8B949E"/>
                </a:solidFill>
                <a:latin typeface="Helvetica Neue"/>
              </a:rPr>
              <a:t>GitHub Copilot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7709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Menlo"/>
              </a:rPr>
              <a:t>02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FB950"/>
                </a:solidFill>
                <a:latin typeface="Helvetica Neue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400" b="1" i="0">
                <a:solidFill>
                  <a:srgbClr val="E6EDF3"/>
                </a:solidFill>
                <a:latin typeface="Helvetica Neue"/>
              </a:rPr>
              <a:t>Co dnes probereme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3423818" cy="17373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399"/>
            <a:ext cx="2966618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1" i="0">
                <a:solidFill>
                  <a:srgbClr val="3FB950"/>
                </a:solidFill>
                <a:latin typeface="Menl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199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700" b="1" i="0">
                <a:solidFill>
                  <a:srgbClr val="E6EDF3"/>
                </a:solidFill>
                <a:latin typeface="Helvetica Neue"/>
              </a:rPr>
              <a:t>Modely a tokeny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938" y="1874519"/>
            <a:ext cx="3423818" cy="17373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2538" y="2057399"/>
            <a:ext cx="2966618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1" i="0">
                <a:solidFill>
                  <a:srgbClr val="3FB950"/>
                </a:solidFill>
                <a:latin typeface="Menlo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2538" y="2743199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700" b="1" i="0">
                <a:solidFill>
                  <a:srgbClr val="E6EDF3"/>
                </a:solidFill>
                <a:latin typeface="Helvetica Neue"/>
              </a:rPr>
              <a:t>Context window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2076" y="1874519"/>
            <a:ext cx="3423818" cy="17373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10676" y="2057399"/>
            <a:ext cx="2966618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1" i="0">
                <a:solidFill>
                  <a:srgbClr val="3FB950"/>
                </a:solidFill>
                <a:latin typeface="Menlo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0676" y="2743199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700" b="1" i="0">
                <a:solidFill>
                  <a:srgbClr val="E6EDF3"/>
                </a:solidFill>
                <a:latin typeface="Helvetica Neue"/>
              </a:rPr>
              <a:t>Agenti a sub-agenti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886199"/>
            <a:ext cx="3423818" cy="17373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69079"/>
            <a:ext cx="2966618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1" i="0">
                <a:solidFill>
                  <a:srgbClr val="3FB950"/>
                </a:solidFill>
                <a:latin typeface="Menlo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754879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700" b="1" i="0">
                <a:solidFill>
                  <a:srgbClr val="E6EDF3"/>
                </a:solidFill>
                <a:latin typeface="Helvetica Neue"/>
              </a:rPr>
              <a:t>Skills a instrukce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3938" y="3886199"/>
            <a:ext cx="3423818" cy="17373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2538" y="4069079"/>
            <a:ext cx="2966618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1" i="0">
                <a:solidFill>
                  <a:srgbClr val="3FB950"/>
                </a:solidFill>
                <a:latin typeface="Menlo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2538" y="4754879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700" b="1" i="0">
                <a:solidFill>
                  <a:srgbClr val="E6EDF3"/>
                </a:solidFill>
                <a:latin typeface="Helvetica Neue"/>
              </a:rPr>
              <a:t>Nástroje, MCP a LSP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82076" y="3886199"/>
            <a:ext cx="3423818" cy="17373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10676" y="4069079"/>
            <a:ext cx="2966618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1" i="0">
                <a:solidFill>
                  <a:srgbClr val="3FB950"/>
                </a:solidFill>
                <a:latin typeface="Menlo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0676" y="4754879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700" b="1" i="0">
                <a:solidFill>
                  <a:srgbClr val="E6EDF3"/>
                </a:solidFill>
                <a:latin typeface="Helvetica Neue"/>
              </a:rPr>
              <a:t>Provozní módy a příkazy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3550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00" b="0" i="0">
                <a:solidFill>
                  <a:srgbClr val="8B949E"/>
                </a:solidFill>
                <a:latin typeface="Helvetica Neue"/>
              </a:rPr>
              <a:t>GitHub Copilot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7709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Menlo"/>
              </a:rPr>
              <a:t>03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FB950"/>
                </a:solidFill>
                <a:latin typeface="Helvetica Neue"/>
              </a:rPr>
              <a:t>MODELY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400" b="1" i="0">
                <a:solidFill>
                  <a:srgbClr val="E6EDF3"/>
                </a:solidFill>
                <a:latin typeface="Helvetica Neue"/>
              </a:rPr>
              <a:t>AI modely — Anthropic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200" b="0" i="1">
                <a:solidFill>
                  <a:srgbClr val="8B949E"/>
                </a:solidFill>
                <a:latin typeface="Helvetica Neue"/>
              </a:rPr>
              <a:t>Orientační ceny v $ / 1M tokenů ke dni prezentace — ověřte aktuální ceník poskytovatele.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10820095" cy="4069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56032" indent="-256032">
              <a:lnSpc>
                <a:spcPct val="110000"/>
              </a:lnSpc>
              <a:spcAft>
                <a:spcPts val="200"/>
              </a:spcAft>
              <a:buClr>
                <a:srgbClr val="3FB950"/>
              </a:buClr>
              <a:buFont typeface="Arial"/>
              <a:buChar char="•"/>
            </a:pPr>
            <a:r>
              <a:rPr sz="2000" b="1" i="0">
                <a:solidFill>
                  <a:srgbClr val="E6EDF3"/>
                </a:solidFill>
                <a:latin typeface="Helvetica Neue"/>
              </a:rPr>
              <a:t>Claude Opus 5.5   </a:t>
            </a:r>
            <a:r>
              <a:rPr sz="1200" b="1" i="0">
                <a:solidFill>
                  <a:srgbClr val="3FB950"/>
                </a:solidFill>
                <a:latin typeface="Helvetica Neue"/>
              </a:rPr>
              <a:t>VYSOKÝ VÝKON</a:t>
            </a:r>
          </a:p>
          <a:p>
            <a:pPr marL="256032" indent="0">
              <a:lnSpc>
                <a:spcPct val="110000"/>
              </a:lnSpc>
              <a:spcAft>
                <a:spcPts val="200"/>
              </a:spcAft>
              <a:buNone/>
            </a:pPr>
            <a:r>
              <a:rPr sz="1400" b="0" i="0">
                <a:solidFill>
                  <a:srgbClr val="3FB950"/>
                </a:solidFill>
                <a:latin typeface="Helvetica Neue"/>
              </a:rPr>
              <a:t>Input: $15 · Output: $75 (za 1M tokenů)</a:t>
            </a:r>
          </a:p>
          <a:p>
            <a:pPr marL="256032" indent="0">
              <a:lnSpc>
                <a:spcPct val="110000"/>
              </a:lnSpc>
              <a:spcAft>
                <a:spcPts val="1800"/>
              </a:spcAft>
              <a:buNone/>
            </a:pPr>
            <a:r>
              <a:rPr sz="1400" b="0" i="1">
                <a:solidFill>
                  <a:srgbClr val="8B949E"/>
                </a:solidFill>
                <a:latin typeface="Helvetica Neue"/>
              </a:rPr>
              <a:t>Nejsilnější uvažování — komplexní architektura, hluboká analýza, náročný refactoring.</a:t>
            </a:r>
          </a:p>
          <a:p>
            <a:pPr marL="256032" indent="-256032">
              <a:lnSpc>
                <a:spcPct val="110000"/>
              </a:lnSpc>
              <a:spcAft>
                <a:spcPts val="200"/>
              </a:spcAft>
              <a:buClr>
                <a:srgbClr val="3FB950"/>
              </a:buClr>
              <a:buFont typeface="Arial"/>
              <a:buChar char="•"/>
            </a:pPr>
            <a:r>
              <a:rPr sz="2000" b="1" i="0">
                <a:solidFill>
                  <a:srgbClr val="E6EDF3"/>
                </a:solidFill>
                <a:latin typeface="Helvetica Neue"/>
              </a:rPr>
              <a:t>Claude Sonnet 5.6   </a:t>
            </a:r>
            <a:r>
              <a:rPr sz="1200" b="1" i="0">
                <a:solidFill>
                  <a:srgbClr val="D29922"/>
                </a:solidFill>
                <a:latin typeface="Helvetica Neue"/>
              </a:rPr>
              <a:t>STŘEDNÍ VÝKON</a:t>
            </a:r>
          </a:p>
          <a:p>
            <a:pPr marL="256032" indent="0">
              <a:lnSpc>
                <a:spcPct val="110000"/>
              </a:lnSpc>
              <a:spcAft>
                <a:spcPts val="200"/>
              </a:spcAft>
              <a:buNone/>
            </a:pPr>
            <a:r>
              <a:rPr sz="1400" b="0" i="0">
                <a:solidFill>
                  <a:srgbClr val="3FB950"/>
                </a:solidFill>
                <a:latin typeface="Helvetica Neue"/>
              </a:rPr>
              <a:t>Input: $3 · Output: $15 (za 1M tokenů)</a:t>
            </a:r>
          </a:p>
          <a:p>
            <a:pPr marL="256032" indent="0">
              <a:lnSpc>
                <a:spcPct val="110000"/>
              </a:lnSpc>
              <a:spcAft>
                <a:spcPts val="1800"/>
              </a:spcAft>
              <a:buNone/>
            </a:pPr>
            <a:r>
              <a:rPr sz="1400" b="0" i="1">
                <a:solidFill>
                  <a:srgbClr val="8B949E"/>
                </a:solidFill>
                <a:latin typeface="Helvetica Neue"/>
              </a:rPr>
              <a:t>Výchozí volba pro denní práci — běžný vývoj, code review, psaní testů.</a:t>
            </a:r>
          </a:p>
          <a:p>
            <a:pPr marL="256032" indent="-256032">
              <a:lnSpc>
                <a:spcPct val="110000"/>
              </a:lnSpc>
              <a:spcAft>
                <a:spcPts val="200"/>
              </a:spcAft>
              <a:buClr>
                <a:srgbClr val="3FB950"/>
              </a:buClr>
              <a:buFont typeface="Arial"/>
              <a:buChar char="•"/>
            </a:pPr>
            <a:r>
              <a:rPr sz="2000" b="1" i="0">
                <a:solidFill>
                  <a:srgbClr val="E6EDF3"/>
                </a:solidFill>
                <a:latin typeface="Helvetica Neue"/>
              </a:rPr>
              <a:t>Claude Haiku Sol   </a:t>
            </a:r>
            <a:r>
              <a:rPr sz="1200" b="1" i="0">
                <a:solidFill>
                  <a:srgbClr val="58A6FF"/>
                </a:solidFill>
                <a:latin typeface="Helvetica Neue"/>
              </a:rPr>
              <a:t>RYCHLÝ &amp; LEVNÝ</a:t>
            </a:r>
          </a:p>
          <a:p>
            <a:pPr marL="256032" indent="0">
              <a:lnSpc>
                <a:spcPct val="110000"/>
              </a:lnSpc>
              <a:spcAft>
                <a:spcPts val="200"/>
              </a:spcAft>
              <a:buNone/>
            </a:pPr>
            <a:r>
              <a:rPr sz="1400" b="0" i="0">
                <a:solidFill>
                  <a:srgbClr val="3FB950"/>
                </a:solidFill>
                <a:latin typeface="Helvetica Neue"/>
              </a:rPr>
              <a:t>Input: $0,80 · Output: $4 (za 1M tokenů)</a:t>
            </a:r>
          </a:p>
          <a:p>
            <a:pPr marL="256032" indent="0">
              <a:lnSpc>
                <a:spcPct val="110000"/>
              </a:lnSpc>
              <a:spcAft>
                <a:spcPts val="1800"/>
              </a:spcAft>
              <a:buNone/>
            </a:pPr>
            <a:r>
              <a:rPr sz="1400" b="0" i="1">
                <a:solidFill>
                  <a:srgbClr val="8B949E"/>
                </a:solidFill>
                <a:latin typeface="Helvetica Neue"/>
              </a:rPr>
              <a:t>Nejrychlejší a nejlevnější — jednoduché úlohy, dávkové zpracování, vysoký objem požadavků.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3550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00" b="0" i="0">
                <a:solidFill>
                  <a:srgbClr val="8B949E"/>
                </a:solidFill>
                <a:latin typeface="Helvetica Neue"/>
              </a:rPr>
              <a:t>GitHub Copilot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7709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Menlo"/>
              </a:rPr>
              <a:t>04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FB950"/>
                </a:solidFill>
                <a:latin typeface="Helvetica Neue"/>
              </a:rPr>
              <a:t>MODELY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400" b="1" i="0">
                <a:solidFill>
                  <a:srgbClr val="E6EDF3"/>
                </a:solidFill>
                <a:latin typeface="Helvetica Neue"/>
              </a:rPr>
              <a:t>AI modely — OpenAI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200" b="0" i="1">
                <a:solidFill>
                  <a:srgbClr val="8B949E"/>
                </a:solidFill>
                <a:latin typeface="Helvetica Neue"/>
              </a:rPr>
              <a:t>Orientační ceny v $ / 1M tokenů ke dni prezentace — ověřte aktuální ceník poskytovatele.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10820095" cy="4069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56032" indent="-256032">
              <a:lnSpc>
                <a:spcPct val="110000"/>
              </a:lnSpc>
              <a:spcAft>
                <a:spcPts val="200"/>
              </a:spcAft>
              <a:buClr>
                <a:srgbClr val="3FB950"/>
              </a:buClr>
              <a:buFont typeface="Arial"/>
              <a:buChar char="•"/>
            </a:pPr>
            <a:r>
              <a:rPr sz="2000" b="1" i="0">
                <a:solidFill>
                  <a:srgbClr val="E6EDF3"/>
                </a:solidFill>
                <a:latin typeface="Helvetica Neue"/>
              </a:rPr>
              <a:t>GPT-6 Astra   </a:t>
            </a:r>
            <a:r>
              <a:rPr sz="1200" b="1" i="0">
                <a:solidFill>
                  <a:srgbClr val="3FB950"/>
                </a:solidFill>
                <a:latin typeface="Helvetica Neue"/>
              </a:rPr>
              <a:t>VYSOKÝ VÝKON</a:t>
            </a:r>
          </a:p>
          <a:p>
            <a:pPr marL="256032" indent="0">
              <a:lnSpc>
                <a:spcPct val="110000"/>
              </a:lnSpc>
              <a:spcAft>
                <a:spcPts val="200"/>
              </a:spcAft>
              <a:buNone/>
            </a:pPr>
            <a:r>
              <a:rPr sz="1400" b="0" i="0">
                <a:solidFill>
                  <a:srgbClr val="3FB950"/>
                </a:solidFill>
                <a:latin typeface="Helvetica Neue"/>
              </a:rPr>
              <a:t>Input: $2,50 · Output: $10 (za 1M tokenů)</a:t>
            </a:r>
          </a:p>
          <a:p>
            <a:pPr marL="256032" indent="0">
              <a:lnSpc>
                <a:spcPct val="110000"/>
              </a:lnSpc>
              <a:spcAft>
                <a:spcPts val="1800"/>
              </a:spcAft>
              <a:buNone/>
            </a:pPr>
            <a:r>
              <a:rPr sz="1400" b="0" i="1">
                <a:solidFill>
                  <a:srgbClr val="8B949E"/>
                </a:solidFill>
                <a:latin typeface="Helvetica Neue"/>
              </a:rPr>
              <a:t>Flagship model — komplexní reasoning, multimodální úlohy (text, obrázky, kód).</a:t>
            </a:r>
          </a:p>
          <a:p>
            <a:pPr marL="256032" indent="-256032">
              <a:lnSpc>
                <a:spcPct val="110000"/>
              </a:lnSpc>
              <a:spcAft>
                <a:spcPts val="200"/>
              </a:spcAft>
              <a:buClr>
                <a:srgbClr val="3FB950"/>
              </a:buClr>
              <a:buFont typeface="Arial"/>
              <a:buChar char="•"/>
            </a:pPr>
            <a:r>
              <a:rPr sz="2000" b="1" i="0">
                <a:solidFill>
                  <a:srgbClr val="E6EDF3"/>
                </a:solidFill>
                <a:latin typeface="Helvetica Neue"/>
              </a:rPr>
              <a:t>GPT-6 Terra   </a:t>
            </a:r>
            <a:r>
              <a:rPr sz="1200" b="1" i="0">
                <a:solidFill>
                  <a:srgbClr val="D29922"/>
                </a:solidFill>
                <a:latin typeface="Helvetica Neue"/>
              </a:rPr>
              <a:t>STŘEDNÍ VÝKON</a:t>
            </a:r>
          </a:p>
          <a:p>
            <a:pPr marL="256032" indent="0">
              <a:lnSpc>
                <a:spcPct val="110000"/>
              </a:lnSpc>
              <a:spcAft>
                <a:spcPts val="200"/>
              </a:spcAft>
              <a:buNone/>
            </a:pPr>
            <a:r>
              <a:rPr sz="1400" b="0" i="0">
                <a:solidFill>
                  <a:srgbClr val="3FB950"/>
                </a:solidFill>
                <a:latin typeface="Helvetica Neue"/>
              </a:rPr>
              <a:t>Input: $0,50 · Output: $2 (za 1M tokenů)</a:t>
            </a:r>
          </a:p>
          <a:p>
            <a:pPr marL="256032" indent="0">
              <a:lnSpc>
                <a:spcPct val="110000"/>
              </a:lnSpc>
              <a:spcAft>
                <a:spcPts val="1800"/>
              </a:spcAft>
              <a:buNone/>
            </a:pPr>
            <a:r>
              <a:rPr sz="1400" b="0" i="1">
                <a:solidFill>
                  <a:srgbClr val="8B949E"/>
                </a:solidFill>
                <a:latin typeface="Helvetica Neue"/>
              </a:rPr>
              <a:t>Vyvážený poměr cena/výkon — produkční nasazení, agentické workflow.</a:t>
            </a:r>
          </a:p>
          <a:p>
            <a:pPr marL="256032" indent="-256032">
              <a:lnSpc>
                <a:spcPct val="110000"/>
              </a:lnSpc>
              <a:spcAft>
                <a:spcPts val="200"/>
              </a:spcAft>
              <a:buClr>
                <a:srgbClr val="3FB950"/>
              </a:buClr>
              <a:buFont typeface="Arial"/>
              <a:buChar char="•"/>
            </a:pPr>
            <a:r>
              <a:rPr sz="2000" b="1" i="0">
                <a:solidFill>
                  <a:srgbClr val="E6EDF3"/>
                </a:solidFill>
                <a:latin typeface="Helvetica Neue"/>
              </a:rPr>
              <a:t>GPT-6 Luna   </a:t>
            </a:r>
            <a:r>
              <a:rPr sz="1200" b="1" i="0">
                <a:solidFill>
                  <a:srgbClr val="58A6FF"/>
                </a:solidFill>
                <a:latin typeface="Helvetica Neue"/>
              </a:rPr>
              <a:t>RYCHLÝ &amp; LEVNÝ</a:t>
            </a:r>
          </a:p>
          <a:p>
            <a:pPr marL="256032" indent="0">
              <a:lnSpc>
                <a:spcPct val="110000"/>
              </a:lnSpc>
              <a:spcAft>
                <a:spcPts val="200"/>
              </a:spcAft>
              <a:buNone/>
            </a:pPr>
            <a:r>
              <a:rPr sz="1400" b="0" i="0">
                <a:solidFill>
                  <a:srgbClr val="3FB950"/>
                </a:solidFill>
                <a:latin typeface="Helvetica Neue"/>
              </a:rPr>
              <a:t>Input: $0,10 · Output: $0,40 (za 1M tokenů)</a:t>
            </a:r>
          </a:p>
          <a:p>
            <a:pPr marL="256032" indent="0">
              <a:lnSpc>
                <a:spcPct val="110000"/>
              </a:lnSpc>
              <a:spcAft>
                <a:spcPts val="1800"/>
              </a:spcAft>
              <a:buNone/>
            </a:pPr>
            <a:r>
              <a:rPr sz="1400" b="0" i="1">
                <a:solidFill>
                  <a:srgbClr val="8B949E"/>
                </a:solidFill>
                <a:latin typeface="Helvetica Neue"/>
              </a:rPr>
              <a:t>Nejrychlejší a nejlevnější — klasifikace, jednoduché transformace, vysoký throughput.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3550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00" b="0" i="0">
                <a:solidFill>
                  <a:srgbClr val="8B949E"/>
                </a:solidFill>
                <a:latin typeface="Helvetica Neue"/>
              </a:rPr>
              <a:t>GitHub Copilot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7709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Menlo"/>
              </a:rPr>
              <a:t>05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FB950"/>
                </a:solidFill>
                <a:latin typeface="Helvetica Neue"/>
              </a:rPr>
              <a:t>TOKENY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400" b="1" i="0">
                <a:solidFill>
                  <a:srgbClr val="E6EDF3"/>
                </a:solidFill>
                <a:latin typeface="Helvetica Neue"/>
              </a:rPr>
              <a:t>Jak fungují tokeny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820095" cy="1417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56032" indent="-256032">
              <a:lnSpc>
                <a:spcPct val="115000"/>
              </a:lnSpc>
              <a:spcAft>
                <a:spcPts val="800"/>
              </a:spcAft>
              <a:buClr>
                <a:srgbClr val="3FB950"/>
              </a:buClr>
              <a:buFont typeface="Arial"/>
              <a:buChar char="•"/>
            </a:pPr>
            <a:r>
              <a:rPr sz="1700" b="0" i="0">
                <a:solidFill>
                  <a:srgbClr val="E6EDF3"/>
                </a:solidFill>
                <a:latin typeface="Helvetica Neue"/>
              </a:rPr>
              <a:t>Token = základní jednotka textu, kterou model čte/píše — zhruba část slova, ne celé slovo</a:t>
            </a:r>
          </a:p>
          <a:p>
            <a:pPr marL="256032" indent="-256032">
              <a:lnSpc>
                <a:spcPct val="115000"/>
              </a:lnSpc>
              <a:spcAft>
                <a:spcPts val="800"/>
              </a:spcAft>
              <a:buClr>
                <a:srgbClr val="3FB950"/>
              </a:buClr>
              <a:buFont typeface="Arial"/>
              <a:buChar char="•"/>
            </a:pPr>
            <a:r>
              <a:rPr sz="1700" b="0" i="0">
                <a:solidFill>
                  <a:srgbClr val="E6EDF3"/>
                </a:solidFill>
                <a:latin typeface="Helvetica Neue"/>
              </a:rPr>
              <a:t>Cena i rychlost odpovědi se počítají v tokenech, ne ve znacích ani slovech</a:t>
            </a:r>
          </a:p>
          <a:p>
            <a:pPr marL="256032" indent="-256032">
              <a:lnSpc>
                <a:spcPct val="115000"/>
              </a:lnSpc>
              <a:spcAft>
                <a:spcPts val="800"/>
              </a:spcAft>
              <a:buClr>
                <a:srgbClr val="3FB950"/>
              </a:buClr>
              <a:buFont typeface="Arial"/>
              <a:buChar char="•"/>
            </a:pPr>
            <a:r>
              <a:rPr sz="1700" b="0" i="0">
                <a:solidFill>
                  <a:srgbClr val="E6EDF3"/>
                </a:solidFill>
                <a:latin typeface="Helvetica Neue"/>
              </a:rPr>
              <a:t>Syntaxe jako uvozovky, dvojtečky nebo závorky (např. v JSON) stojí tokeny navíc</a:t>
            </a:r>
          </a:p>
          <a:p>
            <a:pPr marL="256032" indent="-256032">
              <a:lnSpc>
                <a:spcPct val="115000"/>
              </a:lnSpc>
              <a:spcAft>
                <a:spcPts val="800"/>
              </a:spcAft>
              <a:buClr>
                <a:srgbClr val="3FB950"/>
              </a:buClr>
              <a:buFont typeface="Arial"/>
              <a:buChar char="•"/>
            </a:pPr>
            <a:r>
              <a:rPr sz="1700" b="0" i="0">
                <a:solidFill>
                  <a:srgbClr val="E6EDF3"/>
                </a:solidFill>
                <a:latin typeface="Helvetica Neue"/>
              </a:rPr>
              <a:t>Reálnou spotřebu v Copilot CLI ukazují </a:t>
            </a:r>
            <a:r>
              <a:rPr sz="1600" b="0" i="0">
                <a:solidFill>
                  <a:srgbClr val="3FB950"/>
                </a:solidFill>
                <a:latin typeface="Menlo"/>
              </a:rPr>
              <a:t>/context</a:t>
            </a:r>
            <a:r>
              <a:rPr sz="1700" b="0" i="0">
                <a:solidFill>
                  <a:srgbClr val="E6EDF3"/>
                </a:solidFill>
                <a:latin typeface="Helvetica Neue"/>
              </a:rPr>
              <a:t> a </a:t>
            </a:r>
            <a:r>
              <a:rPr sz="1600" b="0" i="0">
                <a:solidFill>
                  <a:srgbClr val="3FB950"/>
                </a:solidFill>
                <a:latin typeface="Menlo"/>
              </a:rPr>
              <a:t>/usage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429000"/>
            <a:ext cx="10820095" cy="24231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3630168"/>
            <a:ext cx="128016" cy="128016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5568" y="3630168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16736" y="3630168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611880"/>
            <a:ext cx="10362895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8B949E"/>
                </a:solidFill>
                <a:latin typeface="Menlo"/>
              </a:rPr>
              <a:t>tokenizer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950208"/>
            <a:ext cx="10271455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00" b="0" i="0">
                <a:solidFill>
                  <a:srgbClr val="8B949E"/>
                </a:solidFill>
                <a:latin typeface="Helvetica Neue"/>
              </a:rPr>
              <a:t>Vstup: </a:t>
            </a:r>
            <a:r>
              <a:rPr sz="1600" b="1" i="0">
                <a:solidFill>
                  <a:srgbClr val="E6EDF3"/>
                </a:solidFill>
                <a:latin typeface="Menlo"/>
              </a:rPr>
              <a:t>{"cli": true}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4407408"/>
            <a:ext cx="324612" cy="457200"/>
          </a:xfrm>
          <a:prstGeom prst="roundRect">
            <a:avLst>
              <a:gd name="adj" fmla="val 35000"/>
            </a:avLst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407408"/>
            <a:ext cx="324612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1" i="0">
                <a:solidFill>
                  <a:srgbClr val="0D1117"/>
                </a:solidFill>
                <a:latin typeface="Menlo"/>
              </a:rPr>
              <a:t>{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6172" y="4407408"/>
            <a:ext cx="324612" cy="457200"/>
          </a:xfrm>
          <a:prstGeom prst="roundRect">
            <a:avLst>
              <a:gd name="adj" fmla="val 35000"/>
            </a:avLst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6172" y="4407408"/>
            <a:ext cx="324612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1" i="0">
                <a:solidFill>
                  <a:srgbClr val="0D1117"/>
                </a:solidFill>
                <a:latin typeface="Menlo"/>
              </a:rPr>
              <a:t>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92224" y="4407408"/>
            <a:ext cx="571500" cy="457200"/>
          </a:xfrm>
          <a:prstGeom prst="roundRect">
            <a:avLst>
              <a:gd name="adj" fmla="val 35000"/>
            </a:avLst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92224" y="4407408"/>
            <a:ext cx="5715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1" i="0">
                <a:solidFill>
                  <a:srgbClr val="0D1117"/>
                </a:solidFill>
                <a:latin typeface="Menlo"/>
              </a:rPr>
              <a:t>cli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55164" y="4407408"/>
            <a:ext cx="448056" cy="457200"/>
          </a:xfrm>
          <a:prstGeom prst="roundRect">
            <a:avLst>
              <a:gd name="adj" fmla="val 35000"/>
            </a:avLst>
          </a:prstGeom>
          <a:solidFill>
            <a:srgbClr val="B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55164" y="4407408"/>
            <a:ext cx="448056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1" i="0">
                <a:solidFill>
                  <a:srgbClr val="0D1117"/>
                </a:solidFill>
                <a:latin typeface="Menlo"/>
              </a:rPr>
              <a:t>":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94660" y="4407408"/>
            <a:ext cx="324612" cy="457200"/>
          </a:xfrm>
          <a:prstGeom prst="roundRect">
            <a:avLst>
              <a:gd name="adj" fmla="val 35000"/>
            </a:avLst>
          </a:prstGeom>
          <a:solidFill>
            <a:srgbClr val="F77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94660" y="4407408"/>
            <a:ext cx="324612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1" i="0">
                <a:solidFill>
                  <a:srgbClr val="0D1117"/>
                </a:solidFill>
                <a:latin typeface="Menlo"/>
              </a:rPr>
              <a:t>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10712" y="4407408"/>
            <a:ext cx="694944" cy="457200"/>
          </a:xfrm>
          <a:prstGeom prst="roundRect">
            <a:avLst>
              <a:gd name="adj" fmla="val 35000"/>
            </a:avLst>
          </a:prstGeom>
          <a:solidFill>
            <a:srgbClr val="39C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10712" y="4407408"/>
            <a:ext cx="694944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1" i="0">
                <a:solidFill>
                  <a:srgbClr val="0D1117"/>
                </a:solidFill>
                <a:latin typeface="Menlo"/>
              </a:rPr>
              <a:t>true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97096" y="4407408"/>
            <a:ext cx="324612" cy="457200"/>
          </a:xfrm>
          <a:prstGeom prst="roundRect">
            <a:avLst>
              <a:gd name="adj" fmla="val 35000"/>
            </a:avLst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97096" y="4407408"/>
            <a:ext cx="324612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1" i="0">
                <a:solidFill>
                  <a:srgbClr val="0D1117"/>
                </a:solidFill>
                <a:latin typeface="Menlo"/>
              </a:rPr>
              <a:t>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001768"/>
            <a:ext cx="10271455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00" b="0" i="0">
                <a:solidFill>
                  <a:srgbClr val="8B949E"/>
                </a:solidFill>
                <a:latin typeface="Helvetica Neue"/>
              </a:rPr>
              <a:t>7 tokenů z 14 znaků (ilustrativní rozpad) · vyzkoušej: </a:t>
            </a:r>
            <a:r>
              <a:rPr sz="1300" b="1" i="0">
                <a:solidFill>
                  <a:srgbClr val="3FB950"/>
                </a:solidFill>
                <a:latin typeface="Menlo"/>
                <a:hlinkClick r:id="rId2"/>
              </a:rPr>
              <a:t>platform.openai.com/tokenizer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3550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00" b="0" i="0">
                <a:solidFill>
                  <a:srgbClr val="8B949E"/>
                </a:solidFill>
                <a:latin typeface="Helvetica Neue"/>
              </a:rPr>
              <a:t>GitHub Copilot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7709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Menlo"/>
              </a:rPr>
              <a:t>06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FB950"/>
                </a:solidFill>
                <a:latin typeface="Helvetica Neue"/>
              </a:rPr>
              <a:t>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400" b="1" i="0">
                <a:solidFill>
                  <a:srgbClr val="E6EDF3"/>
                </a:solidFill>
                <a:latin typeface="Helvetica Neue"/>
              </a:rPr>
              <a:t>Context window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820095" cy="429768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Obsahuje: systémový prompt, definice nástrojů, custom instructions, historii konverzace, obsah zmíněných souborů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Roste s každým promptem, </a:t>
            </a:r>
            <a:r>
              <a:rPr sz="1800" b="0" i="0">
                <a:solidFill>
                  <a:srgbClr val="3FB950"/>
                </a:solidFill>
                <a:latin typeface="Menlo"/>
              </a:rPr>
              <a:t>@mention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 souborem nebo voláním nástroje — sám se nikdy nezmenšuje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Identifikátor modelu (např. </a:t>
            </a:r>
            <a:r>
              <a:rPr sz="1800" b="0" i="0">
                <a:solidFill>
                  <a:srgbClr val="3FB950"/>
                </a:solidFill>
                <a:latin typeface="Menlo"/>
              </a:rPr>
              <a:t>gpt-5.4-mini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) určuje dostupnou velikost kontextu — standardně 128k–400k tokenů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Číslo </a:t>
            </a:r>
            <a:r>
              <a:rPr sz="1800" b="0" i="0">
                <a:solidFill>
                  <a:srgbClr val="3FB950"/>
                </a:solidFill>
                <a:latin typeface="Menlo"/>
              </a:rPr>
              <a:t>27k/400k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 znamená: 27k tokenů již použito, 400k maximum. Zbývá prostor pro odpověď a historii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Prostor na odpověď se s zaplněním zmenšuje; auto-compaction zasáhne při ~95 % zaplnění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Větší kontext: </a:t>
            </a:r>
            <a:r>
              <a:rPr sz="1800" b="0" i="0">
                <a:solidFill>
                  <a:srgbClr val="3FB950"/>
                </a:solidFill>
                <a:latin typeface="Menlo"/>
              </a:rPr>
              <a:t>/model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 pro switch na model s větším oknem, nebo </a:t>
            </a:r>
            <a:r>
              <a:rPr sz="1800" b="0" i="0">
                <a:solidFill>
                  <a:srgbClr val="3FB950"/>
                </a:solidFill>
                <a:latin typeface="Menlo"/>
              </a:rPr>
              <a:t>--context long_context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Session ≠ kontext — session je celá konverzace uložená na disku, přežije i zavření CLI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Přesné obsazení jednotlivých kategorií ukazuje příkaz </a:t>
            </a:r>
            <a:r>
              <a:rPr sz="1800" b="0" i="0">
                <a:solidFill>
                  <a:srgbClr val="3FB950"/>
                </a:solidFill>
                <a:latin typeface="Menlo"/>
              </a:rPr>
              <a:t>/context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 (viz následující slide)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3550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00" b="0" i="0">
                <a:solidFill>
                  <a:srgbClr val="8B949E"/>
                </a:solidFill>
                <a:latin typeface="Helvetica Neue"/>
              </a:rPr>
              <a:t>GitHub Copilot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7709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Menlo"/>
              </a:rPr>
              <a:t>07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FB950"/>
                </a:solidFill>
                <a:latin typeface="Helvetica Neue"/>
              </a:rPr>
              <a:t>CONTEXT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960120"/>
            <a:ext cx="10820095" cy="29718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161288"/>
            <a:ext cx="128016" cy="128016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" y="1161288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16736" y="1161288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143000"/>
            <a:ext cx="10362895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8B949E"/>
                </a:solidFill>
                <a:latin typeface="Menlo"/>
              </a:rPr>
              <a:t>/context</a:t>
            </a:r>
          </a:p>
        </p:txBody>
      </p:sp>
      <p:pic>
        <p:nvPicPr>
          <p:cNvPr id="10" name="Picture 9" descr="ed4640aa-4e21-4978-95c2-014ad7b8d3fb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572768"/>
            <a:ext cx="8010407" cy="22677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4114800"/>
            <a:ext cx="10820095" cy="21031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56032" indent="-256032">
              <a:lnSpc>
                <a:spcPct val="115000"/>
              </a:lnSpc>
              <a:spcAft>
                <a:spcPts val="1000"/>
              </a:spcAft>
              <a:buClr>
                <a:srgbClr val="3FB950"/>
              </a:buClr>
              <a:buFont typeface="Arial"/>
              <a:buChar char="•"/>
            </a:pPr>
            <a:r>
              <a:rPr sz="1500" b="0" i="0">
                <a:solidFill>
                  <a:srgbClr val="3FB950"/>
                </a:solidFill>
                <a:latin typeface="Menlo"/>
              </a:rPr>
              <a:t>claude-sonnet-5</a:t>
            </a:r>
            <a:r>
              <a:rPr sz="1600" b="0" i="0">
                <a:solidFill>
                  <a:srgbClr val="E6EDF3"/>
                </a:solidFill>
                <a:latin typeface="Helvetica Neue"/>
              </a:rPr>
              <a:t> — identifikátor zvoleného modelu</a:t>
            </a:r>
          </a:p>
          <a:p>
            <a:pPr marL="256032" indent="-256032">
              <a:lnSpc>
                <a:spcPct val="115000"/>
              </a:lnSpc>
              <a:spcAft>
                <a:spcPts val="1000"/>
              </a:spcAft>
              <a:buClr>
                <a:srgbClr val="3FB950"/>
              </a:buClr>
              <a:buFont typeface="Arial"/>
              <a:buChar char="•"/>
            </a:pPr>
            <a:r>
              <a:rPr sz="1500" b="0" i="0">
                <a:solidFill>
                  <a:srgbClr val="3FB950"/>
                </a:solidFill>
                <a:latin typeface="Menlo"/>
              </a:rPr>
              <a:t>49k/264k tokens (18%)</a:t>
            </a:r>
            <a:r>
              <a:rPr sz="1600" b="0" i="0">
                <a:solidFill>
                  <a:srgbClr val="E6EDF3"/>
                </a:solidFill>
                <a:latin typeface="Helvetica Neue"/>
              </a:rPr>
              <a:t> — 49k tokenů již použito z 264k dostupných; zbývá 83% kapacity</a:t>
            </a:r>
          </a:p>
          <a:p>
            <a:pPr marL="256032" indent="-256032">
              <a:lnSpc>
                <a:spcPct val="115000"/>
              </a:lnSpc>
              <a:spcAft>
                <a:spcPts val="1000"/>
              </a:spcAft>
              <a:buClr>
                <a:srgbClr val="3FB950"/>
              </a:buClr>
              <a:buFont typeface="Arial"/>
              <a:buChar char="•"/>
            </a:pPr>
            <a:r>
              <a:rPr sz="1600" b="0" i="0">
                <a:solidFill>
                  <a:srgbClr val="E6EDF3"/>
                </a:solidFill>
                <a:latin typeface="Helvetica Neue"/>
              </a:rPr>
              <a:t>Jednotlivé řádky: System Prompt (20.1k), System Tools (12.4k), MCP Tools (1.4k), Messages, Free Space — ukazuje rozpad místa</a:t>
            </a:r>
          </a:p>
          <a:p>
            <a:pPr marL="256032" indent="-256032">
              <a:lnSpc>
                <a:spcPct val="115000"/>
              </a:lnSpc>
              <a:spcAft>
                <a:spcPts val="1000"/>
              </a:spcAft>
              <a:buClr>
                <a:srgbClr val="3FB950"/>
              </a:buClr>
              <a:buFont typeface="Arial"/>
              <a:buChar char="•"/>
            </a:pPr>
            <a:r>
              <a:rPr sz="1600" b="0" i="0">
                <a:solidFill>
                  <a:srgbClr val="E6EDF3"/>
                </a:solidFill>
                <a:latin typeface="Helvetica Neue"/>
              </a:rPr>
              <a:t>Vizuální pruh (</a:t>
            </a:r>
            <a:r>
              <a:rPr sz="1500" b="0" i="0">
                <a:solidFill>
                  <a:srgbClr val="3FB950"/>
                </a:solidFill>
                <a:latin typeface="Menlo"/>
              </a:rPr>
              <a:t>○ ○ ◌</a:t>
            </a:r>
            <a:r>
              <a:rPr sz="1600" b="0" i="0">
                <a:solidFill>
                  <a:srgbClr val="E6EDF3"/>
                </a:solidFill>
                <a:latin typeface="Helvetica Neue"/>
              </a:rPr>
              <a:t>) — každý symbol = část obsazenosti; plné kruhy = málo místa, prázdné = volné</a:t>
            </a:r>
          </a:p>
          <a:p>
            <a:pPr marL="256032" indent="-256032">
              <a:lnSpc>
                <a:spcPct val="115000"/>
              </a:lnSpc>
              <a:spcAft>
                <a:spcPts val="1000"/>
              </a:spcAft>
              <a:buClr>
                <a:srgbClr val="3FB950"/>
              </a:buClr>
              <a:buFont typeface="Arial"/>
              <a:buChar char="•"/>
            </a:pPr>
            <a:r>
              <a:rPr sz="1600" b="0" i="0">
                <a:solidFill>
                  <a:srgbClr val="E6EDF3"/>
                </a:solidFill>
                <a:latin typeface="Helvetica Neue"/>
              </a:rPr>
              <a:t>Při přiblížení k 95 % dojde k auto-compaction — historie se automaticky komprimuje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3550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00" b="0" i="0">
                <a:solidFill>
                  <a:srgbClr val="8B949E"/>
                </a:solidFill>
                <a:latin typeface="Helvetica Neue"/>
              </a:rPr>
              <a:t>GitHub Copilot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7709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Menlo"/>
              </a:rPr>
              <a:t>08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FB950"/>
                </a:solidFill>
                <a:latin typeface="Helvetica Neue"/>
              </a:rPr>
              <a:t>CONTEXT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960120"/>
            <a:ext cx="10820095" cy="29718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161288"/>
            <a:ext cx="128016" cy="128016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" y="1161288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16736" y="1161288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143000"/>
            <a:ext cx="10362895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8B949E"/>
                </a:solidFill>
                <a:latin typeface="Menlo"/>
              </a:rPr>
              <a:t>/usage</a:t>
            </a:r>
          </a:p>
        </p:txBody>
      </p:sp>
      <p:pic>
        <p:nvPicPr>
          <p:cNvPr id="10" name="Picture 9" descr="bff62166-1f1a-426e-9636-b2ee4ed8f61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572768"/>
            <a:ext cx="5583164" cy="22677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4114800"/>
            <a:ext cx="10820095" cy="21031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56032" indent="-256032">
              <a:lnSpc>
                <a:spcPct val="115000"/>
              </a:lnSpc>
              <a:spcAft>
                <a:spcPts val="1000"/>
              </a:spcAft>
              <a:buClr>
                <a:srgbClr val="3FB950"/>
              </a:buClr>
              <a:buFont typeface="Arial"/>
              <a:buChar char="•"/>
            </a:pPr>
            <a:r>
              <a:rPr sz="1500" b="0" i="0">
                <a:solidFill>
                  <a:srgbClr val="3FB950"/>
                </a:solidFill>
                <a:latin typeface="Menlo"/>
              </a:rPr>
              <a:t>Changes +169 -40</a:t>
            </a:r>
            <a:r>
              <a:rPr sz="1600" b="0" i="0">
                <a:solidFill>
                  <a:srgbClr val="E6EDF3"/>
                </a:solidFill>
                <a:latin typeface="Helvetica Neue"/>
              </a:rPr>
              <a:t> — počet řádků přidaných/odstraněných v rámci session</a:t>
            </a:r>
          </a:p>
          <a:p>
            <a:pPr marL="256032" indent="-256032">
              <a:lnSpc>
                <a:spcPct val="115000"/>
              </a:lnSpc>
              <a:spcAft>
                <a:spcPts val="1000"/>
              </a:spcAft>
              <a:buClr>
                <a:srgbClr val="3FB950"/>
              </a:buClr>
              <a:buFont typeface="Arial"/>
              <a:buChar char="•"/>
            </a:pPr>
            <a:r>
              <a:rPr sz="1500" b="0" i="0">
                <a:solidFill>
                  <a:srgbClr val="3FB950"/>
                </a:solidFill>
                <a:latin typeface="Menlo"/>
              </a:rPr>
              <a:t>AI Credits: 635.32 (4h 54m 28s)</a:t>
            </a:r>
            <a:r>
              <a:rPr sz="1600" b="0" i="0">
                <a:solidFill>
                  <a:srgbClr val="E6EDF3"/>
                </a:solidFill>
                <a:latin typeface="Helvetica Neue"/>
              </a:rPr>
              <a:t> — kolik AI kreditů jsem utratil za tuto aktivitu</a:t>
            </a:r>
          </a:p>
          <a:p>
            <a:pPr marL="256032" indent="-256032">
              <a:lnSpc>
                <a:spcPct val="115000"/>
              </a:lnSpc>
              <a:spcAft>
                <a:spcPts val="1000"/>
              </a:spcAft>
              <a:buClr>
                <a:srgbClr val="3FB950"/>
              </a:buClr>
              <a:buFont typeface="Arial"/>
              <a:buChar char="•"/>
            </a:pPr>
            <a:r>
              <a:rPr sz="1500" b="0" i="0">
                <a:solidFill>
                  <a:srgbClr val="3FB950"/>
                </a:solidFill>
                <a:latin typeface="Menlo"/>
              </a:rPr>
              <a:t>Tokens</a:t>
            </a:r>
            <a:r>
              <a:rPr sz="1600" b="0" i="0">
                <a:solidFill>
                  <a:srgbClr val="E6EDF3"/>
                </a:solidFill>
                <a:latin typeface="Helvetica Neue"/>
              </a:rPr>
              <a:t> — rozpad: kolik jsem poslal (input), kolik model vrátil (output), kolik šlo na reasoning (thinking)</a:t>
            </a:r>
          </a:p>
          <a:p>
            <a:pPr marL="256032" indent="-256032">
              <a:lnSpc>
                <a:spcPct val="115000"/>
              </a:lnSpc>
              <a:spcAft>
                <a:spcPts val="1000"/>
              </a:spcAft>
              <a:buClr>
                <a:srgbClr val="3FB950"/>
              </a:buClr>
              <a:buFont typeface="Arial"/>
              <a:buChar char="•"/>
            </a:pPr>
            <a:r>
              <a:rPr sz="1500" b="0" i="0">
                <a:solidFill>
                  <a:srgbClr val="3FB950"/>
                </a:solidFill>
                <a:latin typeface="Menlo"/>
              </a:rPr>
              <a:t>51,030 / 70,000 AIC</a:t>
            </a:r>
            <a:r>
              <a:rPr sz="1600" b="0" i="0">
                <a:solidFill>
                  <a:srgbClr val="E6EDF3"/>
                </a:solidFill>
                <a:latin typeface="Helvetica Neue"/>
              </a:rPr>
              <a:t> — spotřeba v měsíční limitě; reset za 5 dní</a:t>
            </a:r>
          </a:p>
          <a:p>
            <a:pPr marL="256032" indent="-256032">
              <a:lnSpc>
                <a:spcPct val="115000"/>
              </a:lnSpc>
              <a:spcAft>
                <a:spcPts val="1000"/>
              </a:spcAft>
              <a:buClr>
                <a:srgbClr val="3FB950"/>
              </a:buClr>
              <a:buFont typeface="Arial"/>
              <a:buChar char="•"/>
            </a:pPr>
            <a:r>
              <a:rPr sz="1500" b="0" i="0">
                <a:solidFill>
                  <a:srgbClr val="3FB950"/>
                </a:solidFill>
                <a:latin typeface="Menlo"/>
              </a:rPr>
              <a:t>72% used</a:t>
            </a:r>
            <a:r>
              <a:rPr sz="1600" b="0" i="0">
                <a:solidFill>
                  <a:srgbClr val="E6EDF3"/>
                </a:solidFill>
                <a:latin typeface="Helvetica Neue"/>
              </a:rPr>
              <a:t> — podíl měsíčního limitu; lze vidět trend (zelené/červené číslo = méně/více než minulý měsíc)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3550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00" b="0" i="0">
                <a:solidFill>
                  <a:srgbClr val="8B949E"/>
                </a:solidFill>
                <a:latin typeface="Helvetica Neue"/>
              </a:rPr>
              <a:t>GitHub Copilot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7709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Menlo"/>
              </a:rPr>
              <a:t>09 / 57</a:t>
            </a:r>
          </a:p>
        </p:txBody>
      </p:sp>
      <p:sp>
        <p:nvSpPr>
          <p:cNvPr id="4" name="Oval 3"/>
          <p:cNvSpPr/>
          <p:nvPr/>
        </p:nvSpPr>
        <p:spPr>
          <a:xfrm>
            <a:off x="9601200" y="1371600"/>
            <a:ext cx="2286000" cy="2286000"/>
          </a:xfrm>
          <a:prstGeom prst="ellipse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286000"/>
            <a:ext cx="8229600" cy="182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7200" b="1" i="0">
                <a:solidFill>
                  <a:srgbClr val="E6EDF3"/>
                </a:solidFill>
                <a:latin typeface="Helvetica Neue"/>
              </a:rPr>
              <a:t>AGENTI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114800"/>
            <a:ext cx="8229600" cy="1371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800" b="0" i="0">
                <a:solidFill>
                  <a:srgbClr val="8B949E"/>
                </a:solidFill>
                <a:latin typeface="Helvetica Neue"/>
              </a:rPr>
              <a:t>Speciální persona s rolí, znalostmi, nástroji a hranicemi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3550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00" b="0" i="0">
                <a:solidFill>
                  <a:srgbClr val="8B949E"/>
                </a:solidFill>
                <a:latin typeface="Helvetica Neue"/>
              </a:rPr>
              <a:t>GitHub Copilot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7709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Menlo"/>
              </a:rPr>
              <a:t>10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FB950"/>
                </a:solidFill>
                <a:latin typeface="Helvetica Neue"/>
              </a:rPr>
              <a:t>AGENTI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400" b="1" i="0">
                <a:solidFill>
                  <a:srgbClr val="E6EDF3"/>
                </a:solidFill>
                <a:latin typeface="Helvetica Neue"/>
              </a:rPr>
              <a:t>Co je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820095" cy="429768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Agent = specializovaná persona s vlastní rolí, znalostmi (skills), dostupnými nástroji a hranicemi (boundaries)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Copilot CLI má 11 vestavěných agentů: Explore (prohledávání), Task (správa projektu), Code-review, Rubber-duck (kritika), Security-review, Research, Plan, Fleet a další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Vlastní agenty si vytváříš sám — soubor </a:t>
            </a:r>
            <a:r>
              <a:rPr sz="1800" b="0" i="0">
                <a:solidFill>
                  <a:srgbClr val="3FB950"/>
                </a:solidFill>
                <a:latin typeface="Menlo"/>
              </a:rPr>
              <a:t>.agent.md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 s YAML frontmatter (name, description, model, tools, skills) + markdown body s instrukcemi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Agenti mohou delegovat na sebe navzájem — orchestrují si práci a sdílejí context ze session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Vestavění agenti jsou dostupní ihned, vlastní agenti se nahrají z </a:t>
            </a:r>
            <a:r>
              <a:rPr sz="1800" b="0" i="0">
                <a:solidFill>
                  <a:srgbClr val="3FB950"/>
                </a:solidFill>
                <a:latin typeface="Menlo"/>
              </a:rPr>
              <a:t>.github/agents/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, </a:t>
            </a:r>
            <a:r>
              <a:rPr sz="1800" b="0" i="0">
                <a:solidFill>
                  <a:srgbClr val="3FB950"/>
                </a:solidFill>
                <a:latin typeface="Menlo"/>
              </a:rPr>
              <a:t>.claude/agents/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, nebo </a:t>
            </a:r>
            <a:r>
              <a:rPr sz="1800" b="0" i="0">
                <a:solidFill>
                  <a:srgbClr val="3FB950"/>
                </a:solidFill>
                <a:latin typeface="Menlo"/>
              </a:rPr>
              <a:t>~/.copilot/agents/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3550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00" b="0" i="0">
                <a:solidFill>
                  <a:srgbClr val="8B949E"/>
                </a:solidFill>
                <a:latin typeface="Helvetica Neue"/>
              </a:rPr>
              <a:t>GitHub Copilot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7709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Menlo"/>
              </a:rPr>
              <a:t>11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FB950"/>
                </a:solidFill>
                <a:latin typeface="Helvetica Neue"/>
              </a:rPr>
              <a:t>AGENTI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400" b="1" i="0">
                <a:solidFill>
                  <a:srgbClr val="E6EDF3"/>
                </a:solidFill>
                <a:latin typeface="Helvetica Neue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22960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20000"/>
              </a:lnSpc>
            </a:pPr>
            <a:r>
              <a:rPr sz="1800" b="0" i="0">
                <a:solidFill>
                  <a:srgbClr val="8B949E"/>
                </a:solidFill>
                <a:latin typeface="Helvetica Neue"/>
              </a:rPr>
              <a:t>Každý agent žije v </a:t>
            </a:r>
            <a:r>
              <a:rPr sz="1700" b="0" i="0">
                <a:solidFill>
                  <a:srgbClr val="3FB950"/>
                </a:solidFill>
                <a:latin typeface="Menlo"/>
              </a:rPr>
              <a:t>.github/agents/name.agent.md</a:t>
            </a:r>
            <a:r>
              <a:rPr sz="1800" b="0" i="0">
                <a:solidFill>
                  <a:srgbClr val="8B949E"/>
                </a:solidFill>
                <a:latin typeface="Helvetica Neue"/>
              </a:rPr>
              <a:t>, </a:t>
            </a:r>
            <a:r>
              <a:rPr sz="1700" b="0" i="0">
                <a:solidFill>
                  <a:srgbClr val="3FB950"/>
                </a:solidFill>
                <a:latin typeface="Menlo"/>
              </a:rPr>
              <a:t>.claude/agents/</a:t>
            </a:r>
            <a:r>
              <a:rPr sz="1800" b="0" i="0">
                <a:solidFill>
                  <a:srgbClr val="8B949E"/>
                </a:solidFill>
                <a:latin typeface="Helvetica Neue"/>
              </a:rPr>
              <a:t>, nebo </a:t>
            </a:r>
            <a:r>
              <a:rPr sz="1700" b="0" i="0">
                <a:solidFill>
                  <a:srgbClr val="3FB950"/>
                </a:solidFill>
                <a:latin typeface="Menlo"/>
              </a:rPr>
              <a:t>~/.copilot/agents/</a:t>
            </a:r>
            <a:r>
              <a:rPr sz="1800" b="0" i="0">
                <a:solidFill>
                  <a:srgbClr val="8B949E"/>
                </a:solidFill>
                <a:latin typeface="Helvetica Neue"/>
              </a:rPr>
              <a:t>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10820095" cy="46634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709928"/>
            <a:ext cx="128016" cy="128016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5568" y="1709928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16736" y="1709928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91640"/>
            <a:ext cx="10362895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8B949E"/>
                </a:solidFill>
                <a:latin typeface="Menlo"/>
              </a:rPr>
              <a:t>test-agent.agent.md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029968"/>
            <a:ext cx="10271455" cy="3959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E6EDF3"/>
                </a:solidFill>
                <a:latin typeface="Menlo"/>
              </a:rPr>
              <a:t>---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E6EDF3"/>
                </a:solidFill>
                <a:latin typeface="Menlo"/>
              </a:rPr>
              <a:t>name: test-agent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E6EDF3"/>
                </a:solidFill>
                <a:latin typeface="Menlo"/>
              </a:rPr>
              <a:t>description: Píše testy podle TDD principů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E6EDF3"/>
                </a:solidFill>
                <a:latin typeface="Menlo"/>
              </a:rPr>
              <a:t>model: auto   </a:t>
            </a:r>
            <a:r>
              <a:rPr sz="1600" b="0" i="0">
                <a:solidFill>
                  <a:srgbClr val="8B949E"/>
                </a:solidFill>
                <a:latin typeface="Menlo"/>
              </a:rPr>
              <a:t># který model použít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E6EDF3"/>
                </a:solidFill>
                <a:latin typeface="Menlo"/>
              </a:rPr>
              <a:t>tools: [shell, read, write]   </a:t>
            </a:r>
            <a:r>
              <a:rPr sz="1600" b="0" i="0">
                <a:solidFill>
                  <a:srgbClr val="8B949E"/>
                </a:solidFill>
                <a:latin typeface="Menlo"/>
              </a:rPr>
              <a:t># přístup k jakým nástrojům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E6EDF3"/>
                </a:solidFill>
                <a:latin typeface="Menlo"/>
              </a:rPr>
              <a:t>skills: [test-writer]   </a:t>
            </a:r>
            <a:r>
              <a:rPr sz="1600" b="0" i="0">
                <a:solidFill>
                  <a:srgbClr val="8B949E"/>
                </a:solidFill>
                <a:latin typeface="Menlo"/>
              </a:rPr>
              <a:t># eager-load tyto skills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E6EDF3"/>
                </a:solidFill>
                <a:latin typeface="Menlo"/>
              </a:rPr>
              <a:t>---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E6EDF3"/>
                </a:solidFill>
                <a:latin typeface="Helvetica Neue"/>
              </a:rPr>
              <a:t> 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8B949E"/>
                </a:solidFill>
                <a:latin typeface="Menlo"/>
              </a:rPr>
              <a:t># Agent pro psaní testů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E6EDF3"/>
                </a:solidFill>
                <a:latin typeface="Menlo"/>
              </a:rPr>
              <a:t>Jsi senior QA inženýr...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E6EDF3"/>
                </a:solidFill>
                <a:latin typeface="Helvetica Neue"/>
              </a:rPr>
              <a:t> 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8B949E"/>
                </a:solidFill>
                <a:latin typeface="Menlo"/>
              </a:rPr>
              <a:t>## NEDĚJ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E6EDF3"/>
                </a:solidFill>
                <a:latin typeface="Menlo"/>
              </a:rPr>
              <a:t>- Nikdy neměň zdrojový kód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3550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00" b="0" i="0">
                <a:solidFill>
                  <a:srgbClr val="8B949E"/>
                </a:solidFill>
                <a:latin typeface="Helvetica Neue"/>
              </a:rPr>
              <a:t>GitHub Copilot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7709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Menlo"/>
              </a:rPr>
              <a:t>12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FB950"/>
                </a:solidFill>
                <a:latin typeface="Helvetica Neue"/>
              </a:rPr>
              <a:t>AGENTI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960120"/>
            <a:ext cx="10820095" cy="29718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161288"/>
            <a:ext cx="128016" cy="128016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" y="1161288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16736" y="1161288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143000"/>
            <a:ext cx="10362895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8B949E"/>
                </a:solidFill>
                <a:latin typeface="Menlo"/>
              </a:rPr>
              <a:t>/agent</a:t>
            </a:r>
          </a:p>
        </p:txBody>
      </p:sp>
      <p:pic>
        <p:nvPicPr>
          <p:cNvPr id="10" name="Picture 9" descr="3982762b-0661-4a66-aa9d-a41d170267e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572768"/>
            <a:ext cx="6156837" cy="22677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4114800"/>
            <a:ext cx="10820095" cy="21031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56032" indent="-256032">
              <a:lnSpc>
                <a:spcPct val="115000"/>
              </a:lnSpc>
              <a:spcAft>
                <a:spcPts val="1000"/>
              </a:spcAft>
              <a:buClr>
                <a:srgbClr val="3FB950"/>
              </a:buClr>
              <a:buFont typeface="Arial"/>
              <a:buChar char="•"/>
            </a:pPr>
            <a:r>
              <a:rPr sz="1500" b="0" i="0">
                <a:solidFill>
                  <a:srgbClr val="3FB950"/>
                </a:solidFill>
                <a:latin typeface="Menlo"/>
              </a:rPr>
              <a:t>/agent</a:t>
            </a:r>
            <a:r>
              <a:rPr sz="1600" b="0" i="0">
                <a:solidFill>
                  <a:srgbClr val="E6EDF3"/>
                </a:solidFill>
                <a:latin typeface="Helvetica Neue"/>
              </a:rPr>
              <a:t> — interaktivní výběr dostupných agentů (viz výše)</a:t>
            </a:r>
          </a:p>
          <a:p>
            <a:pPr marL="256032" indent="-256032">
              <a:lnSpc>
                <a:spcPct val="115000"/>
              </a:lnSpc>
              <a:spcAft>
                <a:spcPts val="1000"/>
              </a:spcAft>
              <a:buClr>
                <a:srgbClr val="3FB950"/>
              </a:buClr>
              <a:buFont typeface="Arial"/>
              <a:buChar char="•"/>
            </a:pPr>
            <a:r>
              <a:rPr sz="1500" b="0" i="0">
                <a:solidFill>
                  <a:srgbClr val="3FB950"/>
                </a:solidFill>
                <a:latin typeface="Menlo"/>
              </a:rPr>
              <a:t>copilot --agent my-agent --prompt "..."</a:t>
            </a:r>
            <a:r>
              <a:rPr sz="1600" b="0" i="0">
                <a:solidFill>
                  <a:srgbClr val="E6EDF3"/>
                </a:solidFill>
                <a:latin typeface="Helvetica Neue"/>
              </a:rPr>
              <a:t> — CLI volání konkrétního agenta</a:t>
            </a:r>
          </a:p>
          <a:p>
            <a:pPr marL="256032" indent="-256032">
              <a:lnSpc>
                <a:spcPct val="115000"/>
              </a:lnSpc>
              <a:spcAft>
                <a:spcPts val="1000"/>
              </a:spcAft>
              <a:buClr>
                <a:srgbClr val="3FB950"/>
              </a:buClr>
              <a:buFont typeface="Arial"/>
              <a:buChar char="•"/>
            </a:pPr>
            <a:r>
              <a:rPr sz="1500" b="0" i="0">
                <a:solidFill>
                  <a:srgbClr val="3FB950"/>
                </a:solidFill>
                <a:latin typeface="Menlo"/>
              </a:rPr>
              <a:t>@agent-name</a:t>
            </a:r>
            <a:r>
              <a:rPr sz="1600" b="0" i="0">
                <a:solidFill>
                  <a:srgbClr val="E6EDF3"/>
                </a:solidFill>
                <a:latin typeface="Helvetica Neue"/>
              </a:rPr>
              <a:t> v promptu — inline reference na agenta v session</a:t>
            </a:r>
          </a:p>
          <a:p>
            <a:pPr marL="256032" indent="-256032">
              <a:lnSpc>
                <a:spcPct val="115000"/>
              </a:lnSpc>
              <a:spcAft>
                <a:spcPts val="1000"/>
              </a:spcAft>
              <a:buClr>
                <a:srgbClr val="3FB950"/>
              </a:buClr>
              <a:buFont typeface="Arial"/>
              <a:buChar char="•"/>
            </a:pPr>
            <a:r>
              <a:rPr sz="1600" b="0" i="0">
                <a:solidFill>
                  <a:srgbClr val="E6EDF3"/>
                </a:solidFill>
                <a:latin typeface="Helvetica Neue"/>
              </a:rPr>
              <a:t>⚠️ Ručně vytvořené </a:t>
            </a:r>
            <a:r>
              <a:rPr sz="1500" b="0" i="0">
                <a:solidFill>
                  <a:srgbClr val="3FB950"/>
                </a:solidFill>
                <a:latin typeface="Menlo"/>
              </a:rPr>
              <a:t>.agent.md</a:t>
            </a:r>
            <a:r>
              <a:rPr sz="1600" b="0" i="0">
                <a:solidFill>
                  <a:srgbClr val="E6EDF3"/>
                </a:solidFill>
                <a:latin typeface="Helvetica Neue"/>
              </a:rPr>
              <a:t> vyžadují </a:t>
            </a:r>
            <a:r>
              <a:rPr sz="1600" b="1" i="0">
                <a:solidFill>
                  <a:srgbClr val="E6EDF3"/>
                </a:solidFill>
                <a:latin typeface="Helvetica Neue"/>
              </a:rPr>
              <a:t>restart CLI</a:t>
            </a:r>
            <a:r>
              <a:rPr sz="1600" b="0" i="0">
                <a:solidFill>
                  <a:srgbClr val="E6EDF3"/>
                </a:solidFill>
                <a:latin typeface="Helvetica Neue"/>
              </a:rPr>
              <a:t> — agenti z pluginů se reloadují automaticky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3550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00" b="0" i="0">
                <a:solidFill>
                  <a:srgbClr val="8B949E"/>
                </a:solidFill>
                <a:latin typeface="Helvetica Neue"/>
              </a:rPr>
              <a:t>GitHub Copilot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7709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Menlo"/>
              </a:rPr>
              <a:t>13 / 57</a:t>
            </a:r>
          </a:p>
        </p:txBody>
      </p:sp>
      <p:sp>
        <p:nvSpPr>
          <p:cNvPr id="4" name="Oval 3"/>
          <p:cNvSpPr/>
          <p:nvPr/>
        </p:nvSpPr>
        <p:spPr>
          <a:xfrm>
            <a:off x="9601200" y="1371600"/>
            <a:ext cx="2286000" cy="2286000"/>
          </a:xfrm>
          <a:prstGeom prst="ellipse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286000"/>
            <a:ext cx="8229600" cy="182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7200" b="1" i="0">
                <a:solidFill>
                  <a:srgbClr val="E6EDF3"/>
                </a:solidFill>
                <a:latin typeface="Helvetica Neue"/>
              </a:rPr>
              <a:t>SKILLS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114800"/>
            <a:ext cx="8229600" cy="1371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800" b="0" i="0">
                <a:solidFill>
                  <a:srgbClr val="8B949E"/>
                </a:solidFill>
                <a:latin typeface="Helvetica Neue"/>
              </a:rPr>
              <a:t>Znovupoužitelné znalosti a umění pro agenty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3550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00" b="0" i="0">
                <a:solidFill>
                  <a:srgbClr val="8B949E"/>
                </a:solidFill>
                <a:latin typeface="Helvetica Neue"/>
              </a:rPr>
              <a:t>GitHub Copilot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7709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Menlo"/>
              </a:rPr>
              <a:t>14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FB950"/>
                </a:solidFill>
                <a:latin typeface="Helvetica Neue"/>
              </a:rPr>
              <a:t>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400" b="1" i="0">
                <a:solidFill>
                  <a:srgbClr val="E6EDF3"/>
                </a:solidFill>
                <a:latin typeface="Helvetica Neue"/>
              </a:rPr>
              <a:t>Co jsou skills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820095" cy="429768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Skill = speciální znalost/umění, které si agent může naučit — např. "Generuj dokumentaci API", "Piš testy"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Místo aby agent znovu vymýšlel — skill má hotové instrukce, příklady, šablony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Copilot </a:t>
            </a:r>
            <a:r>
              <a:rPr sz="1900" b="1" i="0">
                <a:solidFill>
                  <a:srgbClr val="E6EDF3"/>
                </a:solidFill>
                <a:latin typeface="Helvetica Neue"/>
              </a:rPr>
              <a:t>sám rozpozná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 relevantní skill a automaticky ho používá — bez ručního přepínání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Progresivní: nejdřív se zkontroluje jméno, pak instrukce, pak soubory — jen to co je potřeba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3 zabudované: cloud-setup (CI/CD), discover-resources (MCP servery), github-pr-media (upload)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3550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00" b="0" i="0">
                <a:solidFill>
                  <a:srgbClr val="8B949E"/>
                </a:solidFill>
                <a:latin typeface="Helvetica Neue"/>
              </a:rPr>
              <a:t>GitHub Copilot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7709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Menlo"/>
              </a:rPr>
              <a:t>15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FB950"/>
                </a:solidFill>
                <a:latin typeface="Helvetica Neue"/>
              </a:rPr>
              <a:t>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400" b="1" i="0">
                <a:solidFill>
                  <a:srgbClr val="E6EDF3"/>
                </a:solidFill>
                <a:latin typeface="Helvetica Neue"/>
              </a:rPr>
              <a:t>Skill — struktura adresáře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20000"/>
              </a:lnSpc>
            </a:pPr>
            <a:r>
              <a:rPr sz="1800" b="0" i="0">
                <a:solidFill>
                  <a:srgbClr val="8B949E"/>
                </a:solidFill>
                <a:latin typeface="Helvetica Neue"/>
              </a:rPr>
              <a:t>Skill soubory jsou organizovány v adresáři s frontmatter a soubory prostředků: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560319"/>
            <a:ext cx="10820095" cy="3611881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761487"/>
            <a:ext cx="128016" cy="128016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5568" y="2761487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16736" y="2761487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743199"/>
            <a:ext cx="10362895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8B949E"/>
                </a:solidFill>
                <a:latin typeface="Menlo"/>
              </a:rPr>
              <a:t>Strom adresářů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081527"/>
            <a:ext cx="10271455" cy="290779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400" b="0" i="0">
                <a:solidFill>
                  <a:srgbClr val="E6EDF3"/>
                </a:solidFill>
                <a:latin typeface="Menlo"/>
              </a:rPr>
              <a:t>.github/skills/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E6EDF3"/>
                </a:solidFill>
                <a:latin typeface="Menlo"/>
              </a:rPr>
              <a:t>└── api-docs/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E6EDF3"/>
                </a:solidFill>
                <a:latin typeface="Menlo"/>
              </a:rPr>
              <a:t>    ├── SKILL.md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E6EDF3"/>
                </a:solidFill>
                <a:latin typeface="Menlo"/>
              </a:rPr>
              <a:t>    ├── examples/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E6EDF3"/>
                </a:solidFill>
                <a:latin typeface="Menlo"/>
              </a:rPr>
              <a:t>    │   ├── example.ts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E6EDF3"/>
                </a:solidFill>
                <a:latin typeface="Menlo"/>
              </a:rPr>
              <a:t>    │   ├── example.py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E6EDF3"/>
                </a:solidFill>
                <a:latin typeface="Menlo"/>
              </a:rPr>
              <a:t>    │   └── example.js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E6EDF3"/>
                </a:solidFill>
                <a:latin typeface="Menlo"/>
              </a:rPr>
              <a:t>    ├── templates/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E6EDF3"/>
                </a:solidFill>
                <a:latin typeface="Menlo"/>
              </a:rPr>
              <a:t>    │   └── api-template.md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E6EDF3"/>
                </a:solidFill>
                <a:latin typeface="Menlo"/>
              </a:rPr>
              <a:t>    ├── docs/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E6EDF3"/>
                </a:solidFill>
                <a:latin typeface="Menlo"/>
              </a:rPr>
              <a:t>    │   └── README.md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E6EDF3"/>
                </a:solidFill>
                <a:latin typeface="Menlo"/>
              </a:rPr>
              <a:t>    └── .metadata.json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3550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00" b="0" i="0">
                <a:solidFill>
                  <a:srgbClr val="8B949E"/>
                </a:solidFill>
                <a:latin typeface="Helvetica Neue"/>
              </a:rPr>
              <a:t>GitHub Copilot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7709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Menlo"/>
              </a:rPr>
              <a:t>16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FB950"/>
                </a:solidFill>
                <a:latin typeface="Helvetica Neue"/>
              </a:rPr>
              <a:t>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400" b="1" i="0">
                <a:solidFill>
                  <a:srgbClr val="E6EDF3"/>
                </a:solidFill>
                <a:latin typeface="Helvetica Neue"/>
              </a:rPr>
              <a:t>Skill — soubor SKILL.md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20000"/>
              </a:lnSpc>
            </a:pPr>
            <a:r>
              <a:rPr sz="1800" b="0" i="0">
                <a:solidFill>
                  <a:srgbClr val="8B949E"/>
                </a:solidFill>
                <a:latin typeface="Helvetica Neue"/>
              </a:rPr>
              <a:t>Frontmatter definuje metadata skilu, body obsahuje instrukce: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560319"/>
            <a:ext cx="10820095" cy="3611881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761487"/>
            <a:ext cx="128016" cy="128016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5568" y="2761487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16736" y="2761487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743199"/>
            <a:ext cx="10362895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8B949E"/>
                </a:solidFill>
                <a:latin typeface="Menlo"/>
              </a:rPr>
              <a:t>SKILL.md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081527"/>
            <a:ext cx="10271455" cy="290779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400" b="0" i="0">
                <a:solidFill>
                  <a:srgbClr val="E6EDF3"/>
                </a:solidFill>
                <a:latin typeface="Menlo"/>
              </a:rPr>
              <a:t>---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E6EDF3"/>
                </a:solidFill>
                <a:latin typeface="Menlo"/>
              </a:rPr>
              <a:t>name: api-docs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E6EDF3"/>
                </a:solidFill>
                <a:latin typeface="Menlo"/>
              </a:rPr>
              <a:t>description: Generuje dokumentaci API ze zdrojového kódu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E6EDF3"/>
                </a:solidFill>
                <a:latin typeface="Menlo"/>
              </a:rPr>
              <a:t>license: MIT   </a:t>
            </a:r>
            <a:r>
              <a:rPr sz="1400" b="0" i="0">
                <a:solidFill>
                  <a:srgbClr val="8B949E"/>
                </a:solidFill>
                <a:latin typeface="Menlo"/>
              </a:rPr>
              <a:t># Nepovinné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E6EDF3"/>
                </a:solidFill>
                <a:latin typeface="Menlo"/>
              </a:rPr>
              <a:t>user-invocable: true   </a:t>
            </a:r>
            <a:r>
              <a:rPr sz="1400" b="0" i="0">
                <a:solidFill>
                  <a:srgbClr val="8B949E"/>
                </a:solidFill>
                <a:latin typeface="Menlo"/>
              </a:rPr>
              <a:t># Nepovinné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E6EDF3"/>
                </a:solidFill>
                <a:latin typeface="Menlo"/>
              </a:rPr>
              <a:t>allowed-tools: [shell, read]   </a:t>
            </a:r>
            <a:r>
              <a:rPr sz="1400" b="0" i="0">
                <a:solidFill>
                  <a:srgbClr val="8B949E"/>
                </a:solidFill>
                <a:latin typeface="Menlo"/>
              </a:rPr>
              <a:t># Nepovinné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E6EDF3"/>
                </a:solidFill>
                <a:latin typeface="Menlo"/>
              </a:rPr>
              <a:t>---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E6EDF3"/>
                </a:solidFill>
                <a:latin typeface="Helvetica Neue"/>
              </a:rPr>
              <a:t> 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8B949E"/>
                </a:solidFill>
                <a:latin typeface="Menlo"/>
              </a:rPr>
              <a:t># Skill pro dokumentaci API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E6EDF3"/>
                </a:solidFill>
                <a:latin typeface="Menlo"/>
              </a:rPr>
              <a:t>Jsi expert na dokumentaci API...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E6EDF3"/>
                </a:solidFill>
                <a:latin typeface="Helvetica Neue"/>
              </a:rPr>
              <a:t> 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8B949E"/>
                </a:solidFill>
                <a:latin typeface="Menlo"/>
              </a:rPr>
              <a:t>## Jak se používá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E6EDF3"/>
                </a:solidFill>
                <a:latin typeface="Menlo"/>
              </a:rPr>
              <a:t>Když uživatel zažádá o dokumentaci API...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3550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00" b="0" i="0">
                <a:solidFill>
                  <a:srgbClr val="8B949E"/>
                </a:solidFill>
                <a:latin typeface="Helvetica Neue"/>
              </a:rPr>
              <a:t>GitHub Copilot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7709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Menlo"/>
              </a:rPr>
              <a:t>17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FB950"/>
                </a:solidFill>
                <a:latin typeface="Helvetica Neue"/>
              </a:rPr>
              <a:t>SKILLS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960120"/>
            <a:ext cx="10820095" cy="29718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161288"/>
            <a:ext cx="128016" cy="128016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" y="1161288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16736" y="1161288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143000"/>
            <a:ext cx="10362895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8B949E"/>
                </a:solidFill>
                <a:latin typeface="Menlo"/>
              </a:rPr>
              <a:t>/skill</a:t>
            </a:r>
          </a:p>
        </p:txBody>
      </p:sp>
      <p:pic>
        <p:nvPicPr>
          <p:cNvPr id="10" name="Picture 9" descr="6c680423-8bcf-492c-9554-83c3347cc25c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572768"/>
            <a:ext cx="5592905" cy="22677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4114800"/>
            <a:ext cx="10820095" cy="21031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56032" indent="-256032">
              <a:lnSpc>
                <a:spcPct val="115000"/>
              </a:lnSpc>
              <a:spcAft>
                <a:spcPts val="1000"/>
              </a:spcAft>
              <a:buClr>
                <a:srgbClr val="3FB950"/>
              </a:buClr>
              <a:buFont typeface="Arial"/>
              <a:buChar char="•"/>
            </a:pPr>
            <a:r>
              <a:rPr sz="1500" b="0" i="0">
                <a:solidFill>
                  <a:srgbClr val="3FB950"/>
                </a:solidFill>
                <a:latin typeface="Menlo"/>
              </a:rPr>
              <a:t>.github/skills/</a:t>
            </a:r>
            <a:r>
              <a:rPr sz="1600" b="0" i="0">
                <a:solidFill>
                  <a:srgbClr val="E6EDF3"/>
                </a:solidFill>
                <a:latin typeface="Helvetica Neue"/>
              </a:rPr>
              <a:t> — projekt; </a:t>
            </a:r>
            <a:r>
              <a:rPr sz="1500" b="0" i="0">
                <a:solidFill>
                  <a:srgbClr val="3FB950"/>
                </a:solidFill>
                <a:latin typeface="Menlo"/>
              </a:rPr>
              <a:t>.claude/skills/</a:t>
            </a:r>
            <a:r>
              <a:rPr sz="1600" b="0" i="0">
                <a:solidFill>
                  <a:srgbClr val="E6EDF3"/>
                </a:solidFill>
                <a:latin typeface="Helvetica Neue"/>
              </a:rPr>
              <a:t> — cross-client; </a:t>
            </a:r>
            <a:r>
              <a:rPr sz="1500" b="0" i="0">
                <a:solidFill>
                  <a:srgbClr val="3FB950"/>
                </a:solidFill>
                <a:latin typeface="Menlo"/>
              </a:rPr>
              <a:t>~/.copilot/skills/</a:t>
            </a:r>
            <a:r>
              <a:rPr sz="1600" b="0" i="0">
                <a:solidFill>
                  <a:srgbClr val="E6EDF3"/>
                </a:solidFill>
                <a:latin typeface="Helvetica Neue"/>
              </a:rPr>
              <a:t> — osobní</a:t>
            </a:r>
          </a:p>
          <a:p>
            <a:pPr marL="256032" indent="-256032">
              <a:lnSpc>
                <a:spcPct val="115000"/>
              </a:lnSpc>
              <a:spcAft>
                <a:spcPts val="1000"/>
              </a:spcAft>
              <a:buClr>
                <a:srgbClr val="3FB950"/>
              </a:buClr>
              <a:buFont typeface="Arial"/>
              <a:buChar char="•"/>
            </a:pPr>
            <a:r>
              <a:rPr sz="1600" b="0" i="0">
                <a:solidFill>
                  <a:srgbClr val="E6EDF3"/>
                </a:solidFill>
                <a:latin typeface="Helvetica Neue"/>
              </a:rPr>
              <a:t>Priorita: </a:t>
            </a:r>
            <a:r>
              <a:rPr sz="1600" b="1" i="0">
                <a:solidFill>
                  <a:srgbClr val="E6EDF3"/>
                </a:solidFill>
                <a:latin typeface="Helvetica Neue"/>
              </a:rPr>
              <a:t>skills projektu</a:t>
            </a:r>
            <a:r>
              <a:rPr sz="1600" b="0" i="0">
                <a:solidFill>
                  <a:srgbClr val="E6EDF3"/>
                </a:solidFill>
                <a:latin typeface="Helvetica Neue"/>
              </a:rPr>
              <a:t> &gt; </a:t>
            </a:r>
            <a:r>
              <a:rPr sz="1600" b="1" i="0">
                <a:solidFill>
                  <a:srgbClr val="E6EDF3"/>
                </a:solidFill>
                <a:latin typeface="Helvetica Neue"/>
              </a:rPr>
              <a:t>osobní skills</a:t>
            </a:r>
            <a:r>
              <a:rPr sz="1600" b="0" i="0">
                <a:solidFill>
                  <a:srgbClr val="E6EDF3"/>
                </a:solidFill>
                <a:latin typeface="Helvetica Neue"/>
              </a:rPr>
              <a:t>; pluginy mohou přinášet bundlované skills</a:t>
            </a:r>
          </a:p>
          <a:p>
            <a:pPr marL="256032" indent="-256032">
              <a:lnSpc>
                <a:spcPct val="115000"/>
              </a:lnSpc>
              <a:spcAft>
                <a:spcPts val="1000"/>
              </a:spcAft>
              <a:buClr>
                <a:srgbClr val="3FB950"/>
              </a:buClr>
              <a:buFont typeface="Arial"/>
              <a:buChar char="•"/>
            </a:pPr>
            <a:r>
              <a:rPr sz="1500" b="0" i="0">
                <a:solidFill>
                  <a:srgbClr val="3FB950"/>
                </a:solidFill>
                <a:latin typeface="Menlo"/>
              </a:rPr>
              <a:t>/skill list</a:t>
            </a:r>
            <a:r>
              <a:rPr sz="1600" b="0" i="0">
                <a:solidFill>
                  <a:srgbClr val="E6EDF3"/>
                </a:solidFill>
                <a:latin typeface="Helvetica Neue"/>
              </a:rPr>
              <a:t> — seznam dostupných skills</a:t>
            </a:r>
          </a:p>
          <a:p>
            <a:pPr marL="256032" indent="-256032">
              <a:lnSpc>
                <a:spcPct val="115000"/>
              </a:lnSpc>
              <a:spcAft>
                <a:spcPts val="1000"/>
              </a:spcAft>
              <a:buClr>
                <a:srgbClr val="3FB950"/>
              </a:buClr>
              <a:buFont typeface="Arial"/>
              <a:buChar char="•"/>
            </a:pPr>
            <a:r>
              <a:rPr sz="1500" b="0" i="0">
                <a:solidFill>
                  <a:srgbClr val="3FB950"/>
                </a:solidFill>
                <a:latin typeface="Menlo"/>
              </a:rPr>
              <a:t>/skill add</a:t>
            </a:r>
            <a:r>
              <a:rPr sz="1600" b="0" i="0">
                <a:solidFill>
                  <a:srgbClr val="E6EDF3"/>
                </a:solidFill>
                <a:latin typeface="Helvetica Neue"/>
              </a:rPr>
              <a:t> — přidat skill z URL nebo adresáře</a:t>
            </a:r>
          </a:p>
          <a:p>
            <a:pPr marL="256032" indent="-256032">
              <a:lnSpc>
                <a:spcPct val="115000"/>
              </a:lnSpc>
              <a:spcAft>
                <a:spcPts val="1000"/>
              </a:spcAft>
              <a:buClr>
                <a:srgbClr val="3FB950"/>
              </a:buClr>
              <a:buFont typeface="Arial"/>
              <a:buChar char="•"/>
            </a:pPr>
            <a:r>
              <a:rPr sz="1500" b="0" i="0">
                <a:solidFill>
                  <a:srgbClr val="3FB950"/>
                </a:solidFill>
                <a:latin typeface="Menlo"/>
              </a:rPr>
              <a:t>/skill reload</a:t>
            </a:r>
            <a:r>
              <a:rPr sz="1600" b="0" i="0">
                <a:solidFill>
                  <a:srgbClr val="E6EDF3"/>
                </a:solidFill>
                <a:latin typeface="Helvetica Neue"/>
              </a:rPr>
              <a:t> — znovu načíst skills (po změně souboru)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3550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00" b="0" i="0">
                <a:solidFill>
                  <a:srgbClr val="8B949E"/>
                </a:solidFill>
                <a:latin typeface="Helvetica Neue"/>
              </a:rPr>
              <a:t>GitHub Copilot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7709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Menlo"/>
              </a:rPr>
              <a:t>18 / 57</a:t>
            </a:r>
          </a:p>
        </p:txBody>
      </p:sp>
      <p:sp>
        <p:nvSpPr>
          <p:cNvPr id="4" name="Oval 3"/>
          <p:cNvSpPr/>
          <p:nvPr/>
        </p:nvSpPr>
        <p:spPr>
          <a:xfrm>
            <a:off x="9601200" y="1371600"/>
            <a:ext cx="2286000" cy="2286000"/>
          </a:xfrm>
          <a:prstGeom prst="ellipse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286000"/>
            <a:ext cx="8229600" cy="182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7200" b="1" i="0">
                <a:solidFill>
                  <a:srgbClr val="E6EDF3"/>
                </a:solidFill>
                <a:latin typeface="Helvetica Neue"/>
              </a:rPr>
              <a:t>INSTRUCTIONS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114800"/>
            <a:ext cx="8229600" cy="1371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800" b="0" i="0">
                <a:solidFill>
                  <a:srgbClr val="8B949E"/>
                </a:solidFill>
                <a:latin typeface="Helvetica Neue"/>
              </a:rPr>
              <a:t>Pravidla a pokyny pro agenty v ruznych kontextech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3550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00" b="0" i="0">
                <a:solidFill>
                  <a:srgbClr val="8B949E"/>
                </a:solidFill>
                <a:latin typeface="Helvetica Neue"/>
              </a:rPr>
              <a:t>GitHub Copilot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7709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Menlo"/>
              </a:rPr>
              <a:t>19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FB950"/>
                </a:solidFill>
                <a:latin typeface="Helvetica Neue"/>
              </a:rPr>
              <a:t>INSTRUCTIONS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400" b="1" i="0">
                <a:solidFill>
                  <a:srgbClr val="E6EDF3"/>
                </a:solidFill>
                <a:latin typeface="Helvetica Neue"/>
              </a:rPr>
              <a:t>Co jsou instrukce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820095" cy="429768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Bez instrukcí: Copilot uhádne vaše preference a standardy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S instrukcemi: Copilot </a:t>
            </a:r>
            <a:r>
              <a:rPr sz="1900" b="1" i="0">
                <a:solidFill>
                  <a:srgbClr val="E6EDF3"/>
                </a:solidFill>
                <a:latin typeface="Helvetica Neue"/>
              </a:rPr>
              <a:t>ví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 vaše kódovací normy, architekturu, zakázané práce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Instrukce se </a:t>
            </a:r>
            <a:r>
              <a:rPr sz="1900" b="1" i="0">
                <a:solidFill>
                  <a:srgbClr val="E6EDF3"/>
                </a:solidFill>
                <a:latin typeface="Helvetica Neue"/>
              </a:rPr>
              <a:t>skládají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 — všechny aktivní se kombinují, tvůj prompt vyhrává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Příklady: kódovací styl, bezpečnostní pravidla, commit konvence, persony projektu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Přehled a zapnutí/vypnutí aktivních instrukcí: </a:t>
            </a:r>
            <a:r>
              <a:rPr sz="1800" b="0" i="0">
                <a:solidFill>
                  <a:srgbClr val="3FB950"/>
                </a:solidFill>
                <a:latin typeface="Menlo"/>
              </a:rPr>
              <a:t>/instructions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3550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00" b="0" i="0">
                <a:solidFill>
                  <a:srgbClr val="8B949E"/>
                </a:solidFill>
                <a:latin typeface="Helvetica Neue"/>
              </a:rPr>
              <a:t>GitHub Copilot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7709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Menlo"/>
              </a:rPr>
              <a:t>20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FB950"/>
                </a:solidFill>
                <a:latin typeface="Helvetica Neue"/>
              </a:rPr>
              <a:t>INSTRUCTIONS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400" b="1" i="0">
                <a:solidFill>
                  <a:srgbClr val="E6EDF3"/>
                </a:solidFill>
                <a:latin typeface="Helvetica Neue"/>
              </a:rPr>
              <a:t>Soubory a rozsah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820095" cy="429768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AGENTS.md — Adresářová struktura: "Kdo jsi" (persona, hranice, zakázaná práce)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CLAUDE.md / GEMINI.md — Git root + cwd: "Kdo jsi" pro všechny nástroje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.github/copilot-instructions.md — Celý repo: "Jak se tady kóduje" (standardy)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**.github/instructions/*.instructions.md** — Specifické soubory: "Speciální pravidla" pro test/*.ts, src/**/*.tsx apod.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~/.copilot/copilot-instructions.md — Osobní: meziprojektové standardy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3550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00" b="0" i="0">
                <a:solidFill>
                  <a:srgbClr val="8B949E"/>
                </a:solidFill>
                <a:latin typeface="Helvetica Neue"/>
              </a:rPr>
              <a:t>GitHub Copilot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7709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Menlo"/>
              </a:rPr>
              <a:t>21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FB950"/>
                </a:solidFill>
                <a:latin typeface="Helvetica Neue"/>
              </a:rPr>
              <a:t>INSTRUCTIONS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400" b="1" i="0">
                <a:solidFill>
                  <a:srgbClr val="E6EDF3"/>
                </a:solidFill>
                <a:latin typeface="Helvetica Neue"/>
              </a:rPr>
              <a:t>.github/copilot-instructions.md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20000"/>
              </a:lnSpc>
            </a:pPr>
            <a:r>
              <a:rPr sz="1800" b="0" i="0">
                <a:solidFill>
                  <a:srgbClr val="8B949E"/>
                </a:solidFill>
                <a:latin typeface="Helvetica Neue"/>
              </a:rPr>
              <a:t>Repo-wide kódovací standardy — jak se v tomto projektu kóduje: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560319"/>
            <a:ext cx="10820095" cy="3611881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761487"/>
            <a:ext cx="128016" cy="128016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5568" y="2761487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16736" y="2761487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743199"/>
            <a:ext cx="10362895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8B949E"/>
                </a:solidFill>
                <a:latin typeface="Menlo"/>
              </a:rPr>
              <a:t>Repo-wide standardy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081527"/>
            <a:ext cx="10271455" cy="290779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300" b="0" i="0">
                <a:solidFill>
                  <a:srgbClr val="8B949E"/>
                </a:solidFill>
                <a:latin typeface="Menlo"/>
              </a:rPr>
              <a:t># Kódovací styl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E6EDF3"/>
                </a:solidFill>
                <a:latin typeface="Menlo"/>
              </a:rPr>
              <a:t>- Používej 2 mezery pro odsazení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E6EDF3"/>
                </a:solidFill>
                <a:latin typeface="Menlo"/>
              </a:rPr>
              <a:t>- Preferuj `const` nad `let`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E6EDF3"/>
                </a:solidFill>
                <a:latin typeface="Menlo"/>
              </a:rPr>
              <a:t>- Přidej JSDoc komentáře pro všechny veřejné funkce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E6EDF3"/>
                </a:solidFill>
                <a:latin typeface="Helvetica Neue"/>
              </a:rPr>
              <a:t> 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8B949E"/>
                </a:solidFill>
                <a:latin typeface="Menlo"/>
              </a:rPr>
              <a:t># Bezpečnost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E6EDF3"/>
                </a:solidFill>
                <a:latin typeface="Menlo"/>
              </a:rPr>
              <a:t>- Nikdy nepsej secrets do kódu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E6EDF3"/>
                </a:solidFill>
                <a:latin typeface="Menlo"/>
              </a:rPr>
              <a:t>- Ověřuj všechny vstupy uživatele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E6EDF3"/>
                </a:solidFill>
                <a:latin typeface="Menlo"/>
              </a:rPr>
              <a:t>- Používej parametrizované dotazy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E6EDF3"/>
                </a:solidFill>
                <a:latin typeface="Helvetica Neue"/>
              </a:rPr>
              <a:t> 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8B949E"/>
                </a:solidFill>
                <a:latin typeface="Menlo"/>
              </a:rPr>
              <a:t># Testování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E6EDF3"/>
                </a:solidFill>
                <a:latin typeface="Menlo"/>
              </a:rPr>
              <a:t>- Všechny funkce musí mít testy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E6EDF3"/>
                </a:solidFill>
                <a:latin typeface="Menlo"/>
              </a:rPr>
              <a:t>- Minimálně 80% pokryti kódu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3550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00" b="0" i="0">
                <a:solidFill>
                  <a:srgbClr val="8B949E"/>
                </a:solidFill>
                <a:latin typeface="Helvetica Neue"/>
              </a:rPr>
              <a:t>GitHub Copilot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7709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Menlo"/>
              </a:rPr>
              <a:t>22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FB950"/>
                </a:solidFill>
                <a:latin typeface="Helvetica Neue"/>
              </a:rPr>
              <a:t>INSTRUCTIONS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400" b="1" i="0">
                <a:solidFill>
                  <a:srgbClr val="E6EDF3"/>
                </a:solidFill>
                <a:latin typeface="Helvetica Neue"/>
              </a:rPr>
              <a:t>Instrukce specifické pro cesty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20000"/>
              </a:lnSpc>
            </a:pPr>
            <a:r>
              <a:rPr sz="1800" b="0" i="0">
                <a:solidFill>
                  <a:srgbClr val="8B949E"/>
                </a:solidFill>
                <a:latin typeface="Helvetica Neue"/>
              </a:rPr>
              <a:t>Různá pravidla pro různé soubory — globs určují, který soubor dostane kterou instrukci: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560319"/>
            <a:ext cx="10820095" cy="3611881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761487"/>
            <a:ext cx="128016" cy="128016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5568" y="2761487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16736" y="2761487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743199"/>
            <a:ext cx="10362895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8B949E"/>
                </a:solidFill>
                <a:latin typeface="Menlo"/>
              </a:rPr>
              <a:t>applyTo glob matching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081527"/>
            <a:ext cx="10271455" cy="290779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300" b="0" i="0">
                <a:solidFill>
                  <a:srgbClr val="E6EDF3"/>
                </a:solidFill>
                <a:latin typeface="Menlo"/>
              </a:rPr>
              <a:t>---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E6EDF3"/>
                </a:solidFill>
                <a:latin typeface="Menlo"/>
              </a:rPr>
              <a:t>applyTo: "**/*.test.ts,**/*.spec.ts"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E6EDF3"/>
                </a:solidFill>
                <a:latin typeface="Menlo"/>
              </a:rPr>
              <a:t>---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E6EDF3"/>
                </a:solidFill>
                <a:latin typeface="Helvetica Neue"/>
              </a:rPr>
              <a:t> 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8B949E"/>
                </a:solidFill>
                <a:latin typeface="Menlo"/>
              </a:rPr>
              <a:t># Instrukce pro testovací soubory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E6EDF3"/>
                </a:solidFill>
                <a:latin typeface="Menlo"/>
              </a:rPr>
              <a:t>- Používej AAA pattern: Arrange, Act, Assert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E6EDF3"/>
                </a:solidFill>
                <a:latin typeface="Menlo"/>
              </a:rPr>
              <a:t>- Jeden koncept assertion na test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E6EDF3"/>
                </a:solidFill>
                <a:latin typeface="Menlo"/>
              </a:rPr>
              <a:t>- Mock externí závislosti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E6EDF3"/>
                </a:solidFill>
                <a:latin typeface="Menlo"/>
              </a:rPr>
              <a:t>- Nikdy netestuj detaily implementace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E6EDF3"/>
                </a:solidFill>
                <a:latin typeface="Helvetica Neue"/>
              </a:rPr>
              <a:t> 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8B949E"/>
                </a:solidFill>
                <a:latin typeface="Menlo"/>
              </a:rPr>
              <a:t># Uložení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E6EDF3"/>
                </a:solidFill>
                <a:latin typeface="Menlo"/>
              </a:rPr>
              <a:t>Ulož jako: .github/instructions/tests.instructions.md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3550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00" b="0" i="0">
                <a:solidFill>
                  <a:srgbClr val="8B949E"/>
                </a:solidFill>
                <a:latin typeface="Helvetica Neue"/>
              </a:rPr>
              <a:t>GitHub Copilot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7709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Menlo"/>
              </a:rPr>
              <a:t>23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FB950"/>
                </a:solidFill>
                <a:latin typeface="Helvetica Neue"/>
              </a:rPr>
              <a:t>INSTRUCTIONS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400" b="1" i="0">
                <a:solidFill>
                  <a:srgbClr val="E6EDF3"/>
                </a:solidFill>
                <a:latin typeface="Helvetica Neue"/>
              </a:rPr>
              <a:t>Priorita a načítání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874519"/>
          <a:ext cx="10820095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722815"/>
              </a:tblGrid>
              <a:tr h="411480">
                <a:tc>
                  <a:txBody>
                    <a:bodyPr anchor="ctr"/>
                    <a:lstStyle/>
                    <a:p>
                      <a:pPr>
                        <a:defRPr b="1" sz="1300">
                          <a:solidFill>
                            <a:srgbClr val="0D1117"/>
                          </a:solidFill>
                          <a:latin typeface="Helvetica Neue"/>
                        </a:defRPr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3FB950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defRPr b="1" sz="1300">
                          <a:solidFill>
                            <a:srgbClr val="0D1117"/>
                          </a:solidFill>
                          <a:latin typeface="Helvetica Neue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3FB950"/>
                    </a:solidFill>
                  </a:tcPr>
                </a:tc>
              </a:tr>
              <a:tr h="411480">
                <a:tc>
                  <a:txBody>
                    <a:bodyPr wrap="square" anchor="ctr"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Helvetica Neue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Helvetica Neue"/>
                        </a:defRPr>
                      </a:pPr>
                      <a:r>
                        <a:t>Tvůj prompt ← vždy vyhrává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411480">
                <a:tc>
                  <a:txBody>
                    <a:bodyPr wrap="square" anchor="ctr"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Helvetica Neue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Helvetica Neue"/>
                        </a:defRPr>
                      </a:pPr>
                      <a:r>
                        <a:t>AGENTS.md (nejbližší v adresářové struktuře) + CLAUDE.md / GEMINI.md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411480">
                <a:tc>
                  <a:txBody>
                    <a:bodyPr wrap="square" anchor="ctr"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Helvetica Neue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Helvetica Neue"/>
                        </a:defRPr>
                      </a:pPr>
                      <a:r>
                        <a:t>.github/copilot-instructions.md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411480">
                <a:tc>
                  <a:txBody>
                    <a:bodyPr wrap="square" anchor="ctr"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Helvetica Neue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Helvetica Neue"/>
                        </a:defRPr>
                      </a:pPr>
                      <a:r>
                        <a:t>.github/instructions/**/*.instructions.md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411480">
                <a:tc>
                  <a:txBody>
                    <a:bodyPr wrap="square" anchor="ctr"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Helvetica Neue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Helvetica Neue"/>
                        </a:defRPr>
                      </a:pPr>
                      <a:r>
                        <a:t>~/.copilot/copilot-instructions.md (osobní)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411480">
                <a:tc>
                  <a:txBody>
                    <a:bodyPr wrap="square" anchor="ctr"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Helvetica Neue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Helvetica Neue"/>
                        </a:defRPr>
                      </a:pPr>
                      <a:r>
                        <a:t>~/.copilot/instructions/**/*.instructions.md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411480">
                <a:tc>
                  <a:txBody>
                    <a:bodyPr wrap="square" anchor="ctr"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Helvetica Neue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Helvetica Neue"/>
                        </a:defRPr>
                      </a:pPr>
                      <a:r>
                        <a:t>COPILOT_CUSTOM_INSTRUCTIONS_DIRS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411480">
                <a:tc>
                  <a:txBody>
                    <a:bodyPr wrap="square" anchor="ctr"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Helvetica Neue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Helvetica Neue"/>
                        </a:defRPr>
                      </a:pPr>
                      <a:r>
                        <a:t>Výchozí chování ← náhrada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3550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00" b="0" i="0">
                <a:solidFill>
                  <a:srgbClr val="8B949E"/>
                </a:solidFill>
                <a:latin typeface="Helvetica Neue"/>
              </a:rPr>
              <a:t>GitHub Copilot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7709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Menlo"/>
              </a:rPr>
              <a:t>24 / 57</a:t>
            </a:r>
          </a:p>
        </p:txBody>
      </p:sp>
      <p:sp>
        <p:nvSpPr>
          <p:cNvPr id="4" name="Oval 3"/>
          <p:cNvSpPr/>
          <p:nvPr/>
        </p:nvSpPr>
        <p:spPr>
          <a:xfrm>
            <a:off x="9601200" y="1371600"/>
            <a:ext cx="2286000" cy="2286000"/>
          </a:xfrm>
          <a:prstGeom prst="ellipse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286000"/>
            <a:ext cx="8229600" cy="182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7200" b="1" i="0">
                <a:solidFill>
                  <a:srgbClr val="E6EDF3"/>
                </a:solidFill>
                <a:latin typeface="Helvetica Neue"/>
              </a:rPr>
              <a:t>TOOLS &amp; 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114800"/>
            <a:ext cx="8229600" cy="1371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800" b="0" i="0">
                <a:solidFill>
                  <a:srgbClr val="8B949E"/>
                </a:solidFill>
                <a:latin typeface="Helvetica Neue"/>
              </a:rPr>
              <a:t>Nástroje, permissions a rozšiřitelnost přes MCP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3550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00" b="0" i="0">
                <a:solidFill>
                  <a:srgbClr val="8B949E"/>
                </a:solidFill>
                <a:latin typeface="Helvetica Neue"/>
              </a:rPr>
              <a:t>GitHub Copilot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7709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Menlo"/>
              </a:rPr>
              <a:t>25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FB950"/>
                </a:solidFill>
                <a:latin typeface="Helvetica Neue"/>
              </a:rPr>
              <a:t>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400" b="1" i="0">
                <a:solidFill>
                  <a:srgbClr val="E6EDF3"/>
                </a:solidFill>
                <a:latin typeface="Helvetica Neue"/>
              </a:rPr>
              <a:t>Co jsou nástroje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820095" cy="429768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Tool = speciální příkaz/akce, kterou si Copilot může zavolat — bash, vytvořit soubor, číst soubor, MCP servery...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Vestavěné nástroje: bash, vytvořit/editovat/zobrazit soubory, glob/grep, web_fetch, delegace úkolu, načítání skills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MCP nástroje: přispívají konfigurované MCP servery (GitHub API, Slack, databáze...)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Každá akce vyžaduje oprávnění — permissions se kontrolují před spuštěním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⚠️ YOLO mode = všechna oprávnění bez dotazu (NIKDY v produkci)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3550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00" b="0" i="0">
                <a:solidFill>
                  <a:srgbClr val="8B949E"/>
                </a:solidFill>
                <a:latin typeface="Helvetica Neue"/>
              </a:rPr>
              <a:t>GitHub Copilot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7709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Menlo"/>
              </a:rPr>
              <a:t>26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FB950"/>
                </a:solidFill>
                <a:latin typeface="Helvetica Neue"/>
              </a:rPr>
              <a:t>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400" b="1" i="0">
                <a:solidFill>
                  <a:srgbClr val="E6EDF3"/>
                </a:solidFill>
                <a:latin typeface="Helvetica Neue"/>
              </a:rPr>
              <a:t>Vestavěné nástroje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874519"/>
          <a:ext cx="62179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200400"/>
                <a:gridCol w="1371600"/>
              </a:tblGrid>
              <a:tr h="457200">
                <a:tc>
                  <a:txBody>
                    <a:bodyPr anchor="ctr"/>
                    <a:lstStyle/>
                    <a:p>
                      <a:pPr>
                        <a:defRPr b="1" sz="1300">
                          <a:solidFill>
                            <a:srgbClr val="0D1117"/>
                          </a:solidFill>
                          <a:latin typeface="Helvetica Neue"/>
                        </a:defRPr>
                      </a:pPr>
                      <a:r>
                        <a:t>Nástroj</a:t>
                      </a:r>
                    </a:p>
                  </a:txBody>
                  <a:tcPr>
                    <a:solidFill>
                      <a:srgbClr val="3FB950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defRPr b="1" sz="1300">
                          <a:solidFill>
                            <a:srgbClr val="0D1117"/>
                          </a:solidFill>
                          <a:latin typeface="Helvetica Neue"/>
                        </a:defRPr>
                      </a:pPr>
                      <a:r>
                        <a:t>Účel</a:t>
                      </a:r>
                    </a:p>
                  </a:txBody>
                  <a:tcPr>
                    <a:solidFill>
                      <a:srgbClr val="3FB950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defRPr b="1" sz="1300">
                          <a:solidFill>
                            <a:srgbClr val="0D1117"/>
                          </a:solidFill>
                          <a:latin typeface="Helvetica Neue"/>
                        </a:defRPr>
                      </a:pPr>
                      <a:r>
                        <a:t>Riziko</a:t>
                      </a:r>
                    </a:p>
                  </a:txBody>
                  <a:tcPr>
                    <a:solidFill>
                      <a:srgbClr val="3FB950"/>
                    </a:solidFill>
                  </a:tcPr>
                </a:tc>
              </a:tr>
              <a:tr h="457200">
                <a:tc>
                  <a:txBody>
                    <a:bodyPr wrap="square" anchor="ctr"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Helvetica Neue"/>
                        </a:defRPr>
                      </a:pPr>
                      <a:r>
                        <a:t>bash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Helvetica Neue"/>
                        </a:defRPr>
                      </a:pPr>
                      <a:r>
                        <a:t>Spuštění shell příkazů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Helvetica Neue"/>
                        </a:defRPr>
                      </a:pPr>
                      <a:r>
                        <a:t>⚠️ Vysoké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457200">
                <a:tc>
                  <a:txBody>
                    <a:bodyPr wrap="square" anchor="ctr"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Helvetica Neue"/>
                        </a:defRPr>
                      </a:pPr>
                      <a:r>
                        <a:t>create / edit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Helvetica Neue"/>
                        </a:defRPr>
                      </a:pPr>
                      <a:r>
                        <a:t>Vytvoření a úprava souborů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Helvetica Neue"/>
                        </a:defRPr>
                      </a:pPr>
                      <a:r>
                        <a:t>⚠️ Vysoké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457200">
                <a:tc>
                  <a:txBody>
                    <a:bodyPr wrap="square" anchor="ctr"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Helvetica Neue"/>
                        </a:defRPr>
                      </a:pPr>
                      <a:r>
                        <a:t>view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Helvetica Neue"/>
                        </a:defRPr>
                      </a:pPr>
                      <a:r>
                        <a:t>Čtení souborů, výpis adresářů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Helvetica Neue"/>
                        </a:defRPr>
                      </a:pPr>
                      <a:r>
                        <a:t>Nízké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457200">
                <a:tc>
                  <a:txBody>
                    <a:bodyPr wrap="square" anchor="ctr"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Helvetica Neue"/>
                        </a:defRPr>
                      </a:pPr>
                      <a:r>
                        <a:t>glob / grep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Helvetica Neue"/>
                        </a:defRPr>
                      </a:pPr>
                      <a:r>
                        <a:t>Hledání souborů, prohledávání obsahu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Helvetica Neue"/>
                        </a:defRPr>
                      </a:pPr>
                      <a:r>
                        <a:t>Nízké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457200">
                <a:tc>
                  <a:txBody>
                    <a:bodyPr wrap="square" anchor="ctr"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Helvetica Neue"/>
                        </a:defRPr>
                      </a:pPr>
                      <a:r>
                        <a:t>web_fetch / web_search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Helvetica Neue"/>
                        </a:defRPr>
                      </a:pPr>
                      <a:r>
                        <a:t>Načtení a prohledávání webu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Helvetica Neue"/>
                        </a:defRPr>
                      </a:pPr>
                      <a:r>
                        <a:t>Střední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457200">
                <a:tc>
                  <a:txBody>
                    <a:bodyPr wrap="square" anchor="ctr"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Helvetica Neue"/>
                        </a:defRPr>
                      </a:pPr>
                      <a:r>
                        <a:t>task / skill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Helvetica Neue"/>
                        </a:defRPr>
                      </a:pPr>
                      <a:r>
                        <a:t>Delegace sub-agentům, načítání skills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Helvetica Neue"/>
                        </a:defRPr>
                      </a:pPr>
                      <a:r>
                        <a:t>Různé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457200">
                <a:tc>
                  <a:txBody>
                    <a:bodyPr wrap="square" anchor="ctr"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Helvetica Neue"/>
                        </a:defRPr>
                      </a:pPr>
                      <a:r>
                        <a:t>MCP server tools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Helvetica Neue"/>
                        </a:defRPr>
                      </a:pPr>
                      <a:r>
                        <a:t>Přispívají konfigurované servery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Helvetica Neue"/>
                        </a:defRPr>
                      </a:pPr>
                      <a:r>
                        <a:t>Různé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3550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00" b="0" i="0">
                <a:solidFill>
                  <a:srgbClr val="8B949E"/>
                </a:solidFill>
                <a:latin typeface="Helvetica Neue"/>
              </a:rPr>
              <a:t>GitHub Copilot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7709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Menlo"/>
              </a:rPr>
              <a:t>27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FB950"/>
                </a:solidFill>
                <a:latin typeface="Helvetica Neue"/>
              </a:rPr>
              <a:t>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400" b="1" i="0">
                <a:solidFill>
                  <a:srgbClr val="E6EDF3"/>
                </a:solidFill>
                <a:latin typeface="Helvetica Neue"/>
              </a:rPr>
              <a:t>Porovnání oprávnění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10820095" cy="4297681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075687"/>
            <a:ext cx="128016" cy="128016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15568" y="2075687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16736" y="2075687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57399"/>
            <a:ext cx="10362895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8B949E"/>
                </a:solidFill>
                <a:latin typeface="Menlo"/>
              </a:rPr>
              <a:t>Syntaxe oprávnění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95727"/>
            <a:ext cx="10271455" cy="359359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300" b="0" i="0">
                <a:solidFill>
                  <a:srgbClr val="8B949E"/>
                </a:solidFill>
                <a:latin typeface="Menlo"/>
              </a:rPr>
              <a:t># Typy oprávnění a vzory shodování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E6EDF3"/>
                </a:solidFill>
                <a:latin typeface="Helvetica Neue"/>
              </a:rPr>
              <a:t> 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E6EDF3"/>
                </a:solidFill>
                <a:latin typeface="Menlo"/>
              </a:rPr>
              <a:t>shell(git:*)   </a:t>
            </a:r>
            <a:r>
              <a:rPr sz="1300" b="0" i="0">
                <a:solidFill>
                  <a:srgbClr val="8B949E"/>
                </a:solidFill>
                <a:latin typeface="Menlo"/>
              </a:rPr>
              <a:t># Odpovídá všem git subpříkazům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E6EDF3"/>
                </a:solidFill>
                <a:latin typeface="Menlo"/>
              </a:rPr>
              <a:t>shell(git)   </a:t>
            </a:r>
            <a:r>
              <a:rPr sz="1300" b="0" i="0">
                <a:solidFill>
                  <a:srgbClr val="8B949E"/>
                </a:solidFill>
                <a:latin typeface="Menlo"/>
              </a:rPr>
              <a:t># NEShoduje se s subpříkazy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E6EDF3"/>
                </a:solidFill>
                <a:latin typeface="Menlo"/>
              </a:rPr>
              <a:t>write(/path/to/*.ts)   </a:t>
            </a:r>
            <a:r>
              <a:rPr sz="1300" b="0" i="0">
                <a:solidFill>
                  <a:srgbClr val="8B949E"/>
                </a:solidFill>
                <a:latin typeface="Menlo"/>
              </a:rPr>
              <a:t># Oprávnění k zápisu do souboru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E6EDF3"/>
                </a:solidFill>
                <a:latin typeface="Menlo"/>
              </a:rPr>
              <a:t>url(api.github.com)   </a:t>
            </a:r>
            <a:r>
              <a:rPr sz="1300" b="0" i="0">
                <a:solidFill>
                  <a:srgbClr val="8B949E"/>
                </a:solidFill>
                <a:latin typeface="Menlo"/>
              </a:rPr>
              <a:t># Přístup do domény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E6EDF3"/>
                </a:solidFill>
                <a:latin typeface="Menlo"/>
              </a:rPr>
              <a:t>mcp-server(tool-name)   </a:t>
            </a:r>
            <a:r>
              <a:rPr sz="1300" b="0" i="0">
                <a:solidFill>
                  <a:srgbClr val="8B949E"/>
                </a:solidFill>
                <a:latin typeface="Menlo"/>
              </a:rPr>
              <a:t># Nástroje MCP serveru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E6EDF3"/>
                </a:solidFill>
                <a:latin typeface="Helvetica Neue"/>
              </a:rPr>
              <a:t> 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E6EDF3"/>
                </a:solidFill>
                <a:latin typeface="Menlo"/>
              </a:rPr>
              <a:t>--allow-tool / --deny-tool   </a:t>
            </a:r>
            <a:r>
              <a:rPr sz="1300" b="0" i="0">
                <a:solidFill>
                  <a:srgbClr val="8B949E"/>
                </a:solidFill>
                <a:latin typeface="Menlo"/>
              </a:rPr>
              <a:t># Explicitní přepsání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3550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00" b="0" i="0">
                <a:solidFill>
                  <a:srgbClr val="8B949E"/>
                </a:solidFill>
                <a:latin typeface="Helvetica Neue"/>
              </a:rPr>
              <a:t>GitHub Copilot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7709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Menlo"/>
              </a:rPr>
              <a:t>28 / 57</a:t>
            </a:r>
          </a:p>
        </p:txBody>
      </p:sp>
      <p:sp>
        <p:nvSpPr>
          <p:cNvPr id="4" name="Oval 3"/>
          <p:cNvSpPr/>
          <p:nvPr/>
        </p:nvSpPr>
        <p:spPr>
          <a:xfrm>
            <a:off x="9601200" y="1371600"/>
            <a:ext cx="2286000" cy="2286000"/>
          </a:xfrm>
          <a:prstGeom prst="ellipse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286000"/>
            <a:ext cx="8229600" cy="182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7200" b="1" i="0">
                <a:solidFill>
                  <a:srgbClr val="E6EDF3"/>
                </a:solidFill>
                <a:latin typeface="Helvetica Neue"/>
              </a:rPr>
              <a:t>MCP SERVERY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114800"/>
            <a:ext cx="8229600" cy="1371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800" b="0" i="0">
                <a:solidFill>
                  <a:srgbClr val="8B949E"/>
                </a:solidFill>
                <a:latin typeface="Helvetica Neue"/>
              </a:rPr>
              <a:t>Model Context Protocol — připojení externích nástrojů a dat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3550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00" b="0" i="0">
                <a:solidFill>
                  <a:srgbClr val="8B949E"/>
                </a:solidFill>
                <a:latin typeface="Helvetica Neue"/>
              </a:rPr>
              <a:t>GitHub Copilot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7709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Menlo"/>
              </a:rPr>
              <a:t>29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FB950"/>
                </a:solidFill>
                <a:latin typeface="Helvetica Neue"/>
              </a:rPr>
              <a:t>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400" b="1" i="0">
                <a:solidFill>
                  <a:srgbClr val="E6EDF3"/>
                </a:solidFill>
                <a:latin typeface="Helvetica Neue"/>
              </a:rPr>
              <a:t>Co je MCP — komunikační protokol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20000"/>
              </a:lnSpc>
            </a:pPr>
            <a:r>
              <a:rPr sz="1800" b="0" i="0">
                <a:solidFill>
                  <a:srgbClr val="8B949E"/>
                </a:solidFill>
                <a:latin typeface="Helvetica Neue"/>
              </a:rPr>
              <a:t>MCP je otevřený standard pro připojení Copilotu k externím systémům (DB, API, Slack, GitHub…)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560319"/>
            <a:ext cx="10820095" cy="3611881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761487"/>
            <a:ext cx="128016" cy="128016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5568" y="2761487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16736" y="2761487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743199"/>
            <a:ext cx="10362895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8B949E"/>
                </a:solidFill>
                <a:latin typeface="Menlo"/>
              </a:rPr>
              <a:t>Architektura MCP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081527"/>
            <a:ext cx="10271455" cy="290779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100" b="0" i="0">
                <a:solidFill>
                  <a:srgbClr val="E6EDF3"/>
                </a:solidFill>
                <a:latin typeface="Menlo"/>
              </a:rPr>
              <a:t>┌──────────────────┐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E6EDF3"/>
                </a:solidFill>
                <a:latin typeface="Menlo"/>
              </a:rPr>
              <a:t>│  Copilot CLI     │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E6EDF3"/>
                </a:solidFill>
                <a:latin typeface="Menlo"/>
              </a:rPr>
              <a:t>└────────┬─────────┘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E6EDF3"/>
                </a:solidFill>
                <a:latin typeface="Menlo"/>
              </a:rPr>
              <a:t>         │ MCP Protocol (stdio/http/sse)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E6EDF3"/>
                </a:solidFill>
                <a:latin typeface="Menlo"/>
              </a:rPr>
              <a:t>         ↓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E6EDF3"/>
                </a:solidFill>
                <a:latin typeface="Menlo"/>
              </a:rPr>
              <a:t>┌──────────────────┐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E6EDF3"/>
                </a:solidFill>
                <a:latin typeface="Menlo"/>
              </a:rPr>
              <a:t>│   MCP Server     │  (memory, exa, postgres...)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E6EDF3"/>
                </a:solidFill>
                <a:latin typeface="Menlo"/>
              </a:rPr>
              <a:t>└────────┬─────────┘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E6EDF3"/>
                </a:solidFill>
                <a:latin typeface="Menlo"/>
              </a:rPr>
              <a:t>         │ API volání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E6EDF3"/>
                </a:solidFill>
                <a:latin typeface="Menlo"/>
              </a:rPr>
              <a:t>         ↓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E6EDF3"/>
                </a:solidFill>
                <a:latin typeface="Menlo"/>
              </a:rPr>
              <a:t>┌──────────────────┐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E6EDF3"/>
                </a:solidFill>
                <a:latin typeface="Menlo"/>
              </a:rPr>
              <a:t>│  Externí nástroje│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E6EDF3"/>
                </a:solidFill>
                <a:latin typeface="Menlo"/>
              </a:rPr>
              <a:t>│  a prostředky    │  (soubory, API, databáze)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E6EDF3"/>
                </a:solidFill>
                <a:latin typeface="Menlo"/>
              </a:rPr>
              <a:t>└──────────────────┘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3550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00" b="0" i="0">
                <a:solidFill>
                  <a:srgbClr val="8B949E"/>
                </a:solidFill>
                <a:latin typeface="Helvetica Neue"/>
              </a:rPr>
              <a:t>GitHub Copilot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7709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Menlo"/>
              </a:rPr>
              <a:t>30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FB950"/>
                </a:solidFill>
                <a:latin typeface="Helvetica Neue"/>
              </a:rPr>
              <a:t>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400" b="1" i="0">
                <a:solidFill>
                  <a:srgbClr val="E6EDF3"/>
                </a:solidFill>
                <a:latin typeface="Helvetica Neue"/>
              </a:rPr>
              <a:t>Konfigurace 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20000"/>
              </a:lnSpc>
            </a:pPr>
            <a:r>
              <a:rPr sz="1800" b="0" i="0">
                <a:solidFill>
                  <a:srgbClr val="8B949E"/>
                </a:solidFill>
                <a:latin typeface="Helvetica Neue"/>
              </a:rPr>
              <a:t>MCP servery se konfigurují v ~/.copilot/mcp-config.json nebo workspace .mcp.json: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560319"/>
            <a:ext cx="10820095" cy="3611881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761487"/>
            <a:ext cx="128016" cy="128016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5568" y="2761487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16736" y="2761487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743199"/>
            <a:ext cx="10362895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8B949E"/>
                </a:solidFill>
                <a:latin typeface="Menlo"/>
              </a:rPr>
              <a:t>mcp-config.json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081527"/>
            <a:ext cx="10271455" cy="290779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100" b="0" i="0">
                <a:solidFill>
                  <a:srgbClr val="E6EDF3"/>
                </a:solidFill>
                <a:latin typeface="Menlo"/>
              </a:rPr>
              <a:t>{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E6EDF3"/>
                </a:solidFill>
                <a:latin typeface="Menlo"/>
              </a:rPr>
              <a:t>  "mcpServers": {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E6EDF3"/>
                </a:solidFill>
                <a:latin typeface="Menlo"/>
              </a:rPr>
              <a:t>    "memory": {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E6EDF3"/>
                </a:solidFill>
                <a:latin typeface="Menlo"/>
              </a:rPr>
              <a:t>      "type": "local",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E6EDF3"/>
                </a:solidFill>
                <a:latin typeface="Menlo"/>
              </a:rPr>
              <a:t>      "command": "npx",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E6EDF3"/>
                </a:solidFill>
                <a:latin typeface="Menlo"/>
              </a:rPr>
              <a:t>      "args": ["-y", "@modelcontextprotocol/server-memory"]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E6EDF3"/>
                </a:solidFill>
                <a:latin typeface="Menlo"/>
              </a:rPr>
              <a:t>    },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E6EDF3"/>
                </a:solidFill>
                <a:latin typeface="Menlo"/>
              </a:rPr>
              <a:t>    "exa": {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E6EDF3"/>
                </a:solidFill>
                <a:latin typeface="Menlo"/>
              </a:rPr>
              <a:t>      "type": "http",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E6EDF3"/>
                </a:solidFill>
                <a:latin typeface="Menlo"/>
              </a:rPr>
              <a:t>      "url": "https://mcp.exa.ai/mcp"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E6EDF3"/>
                </a:solidFill>
                <a:latin typeface="Menlo"/>
              </a:rPr>
              <a:t>    }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E6EDF3"/>
                </a:solidFill>
                <a:latin typeface="Menlo"/>
              </a:rPr>
              <a:t>  }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E6EDF3"/>
                </a:solidFill>
                <a:latin typeface="Menlo"/>
              </a:rPr>
              <a:t>}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3550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00" b="0" i="0">
                <a:solidFill>
                  <a:srgbClr val="8B949E"/>
                </a:solidFill>
                <a:latin typeface="Helvetica Neue"/>
              </a:rPr>
              <a:t>GitHub Copilot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7709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Menlo"/>
              </a:rPr>
              <a:t>31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FB950"/>
                </a:solidFill>
                <a:latin typeface="Helvetica Neue"/>
              </a:rPr>
              <a:t>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400" b="1" i="0">
                <a:solidFill>
                  <a:srgbClr val="E6EDF3"/>
                </a:solidFill>
                <a:latin typeface="Helvetica Neue"/>
              </a:rPr>
              <a:t>Správa MCP a příkazy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20000"/>
              </a:lnSpc>
            </a:pPr>
            <a:r>
              <a:rPr sz="1800" b="0" i="0">
                <a:solidFill>
                  <a:srgbClr val="8B949E"/>
                </a:solidFill>
                <a:latin typeface="Helvetica Neue"/>
              </a:rPr>
              <a:t>Správa MCP serverů přes CLI příkazy nebo interaktivní /mcp zobrazení: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560319"/>
            <a:ext cx="10820095" cy="3611881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761487"/>
            <a:ext cx="128016" cy="128016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5568" y="2761487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16736" y="2761487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743199"/>
            <a:ext cx="10362895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8B949E"/>
                </a:solidFill>
                <a:latin typeface="Menlo"/>
              </a:rPr>
              <a:t>Příkazy MCP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081527"/>
            <a:ext cx="10271455" cy="290779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100" b="0" i="0">
                <a:solidFill>
                  <a:srgbClr val="E6EDF3"/>
                </a:solidFill>
                <a:latin typeface="Menlo"/>
              </a:rPr>
              <a:t>copilot mcp list   </a:t>
            </a:r>
            <a:r>
              <a:rPr sz="1100" b="0" i="0">
                <a:solidFill>
                  <a:srgbClr val="8B949E"/>
                </a:solidFill>
                <a:latin typeface="Menlo"/>
              </a:rPr>
              <a:t># Seznam konfigurovaných serverů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E6EDF3"/>
                </a:solidFill>
                <a:latin typeface="Menlo"/>
              </a:rPr>
              <a:t>copilot mcp get NAME   </a:t>
            </a:r>
            <a:r>
              <a:rPr sz="1100" b="0" i="0">
                <a:solidFill>
                  <a:srgbClr val="8B949E"/>
                </a:solidFill>
                <a:latin typeface="Menlo"/>
              </a:rPr>
              <a:t># Detail serveru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E6EDF3"/>
                </a:solidFill>
                <a:latin typeface="Menlo"/>
              </a:rPr>
              <a:t>copilot mcp add NAME -- CMD   </a:t>
            </a:r>
            <a:r>
              <a:rPr sz="1100" b="0" i="0">
                <a:solidFill>
                  <a:srgbClr val="8B949E"/>
                </a:solidFill>
                <a:latin typeface="Menlo"/>
              </a:rPr>
              <a:t># Přidat lokální stdio server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E6EDF3"/>
                </a:solidFill>
                <a:latin typeface="Menlo"/>
              </a:rPr>
              <a:t>copilot mcp add --transport http NAME URL   </a:t>
            </a:r>
            <a:r>
              <a:rPr sz="1100" b="0" i="0">
                <a:solidFill>
                  <a:srgbClr val="8B949E"/>
                </a:solidFill>
                <a:latin typeface="Menlo"/>
              </a:rPr>
              <a:t># Přidat vzdálený server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E6EDF3"/>
                </a:solidFill>
                <a:latin typeface="Menlo"/>
              </a:rPr>
              <a:t>copilot mcp remove NAME   </a:t>
            </a:r>
            <a:r>
              <a:rPr sz="1100" b="0" i="0">
                <a:solidFill>
                  <a:srgbClr val="8B949E"/>
                </a:solidFill>
                <a:latin typeface="Menlo"/>
              </a:rPr>
              <a:t># Odebrat server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E6EDF3"/>
                </a:solidFill>
                <a:latin typeface="Helvetica Neue"/>
              </a:rPr>
              <a:t> 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E6EDF3"/>
                </a:solidFill>
                <a:latin typeface="Menlo"/>
              </a:rPr>
              <a:t>/mcp   </a:t>
            </a:r>
            <a:r>
              <a:rPr sz="1100" b="0" i="0">
                <a:solidFill>
                  <a:srgbClr val="8B949E"/>
                </a:solidFill>
                <a:latin typeface="Menlo"/>
              </a:rPr>
              <a:t># Interaktivní MCP panel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E6EDF3"/>
                </a:solidFill>
                <a:latin typeface="Menlo"/>
              </a:rPr>
              <a:t>/mcp list   </a:t>
            </a:r>
            <a:r>
              <a:rPr sz="1100" b="0" i="0">
                <a:solidFill>
                  <a:srgbClr val="8B949E"/>
                </a:solidFill>
                <a:latin typeface="Menlo"/>
              </a:rPr>
              <a:t># Seznam serverů v session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E6EDF3"/>
                </a:solidFill>
                <a:latin typeface="Menlo"/>
              </a:rPr>
              <a:t>/mcp show &lt;name&gt;   </a:t>
            </a:r>
            <a:r>
              <a:rPr sz="1100" b="0" i="0">
                <a:solidFill>
                  <a:srgbClr val="8B949E"/>
                </a:solidFill>
                <a:latin typeface="Menlo"/>
              </a:rPr>
              <a:t># Detaily serveru a jeho nástrojů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E6EDF3"/>
                </a:solidFill>
                <a:latin typeface="Menlo"/>
              </a:rPr>
              <a:t>/mcp add / /mcp edit   </a:t>
            </a:r>
            <a:r>
              <a:rPr sz="1100" b="0" i="0">
                <a:solidFill>
                  <a:srgbClr val="8B949E"/>
                </a:solidFill>
                <a:latin typeface="Menlo"/>
              </a:rPr>
              <a:t># Přidat/editovat server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3550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00" b="0" i="0">
                <a:solidFill>
                  <a:srgbClr val="8B949E"/>
                </a:solidFill>
                <a:latin typeface="Helvetica Neue"/>
              </a:rPr>
              <a:t>GitHub Copilot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7709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Menlo"/>
              </a:rPr>
              <a:t>32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FB950"/>
                </a:solidFill>
                <a:latin typeface="Helvetica Neue"/>
              </a:rPr>
              <a:t>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400" b="1" i="0">
                <a:solidFill>
                  <a:srgbClr val="E6EDF3"/>
                </a:solidFill>
                <a:latin typeface="Helvetica Neue"/>
              </a:rPr>
              <a:t>Podnik a bezpečnost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820095" cy="429768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1" i="0">
                <a:solidFill>
                  <a:srgbClr val="E6EDF3"/>
                </a:solidFill>
                <a:latin typeface="Helvetica Neue"/>
              </a:rPr>
              <a:t>GitHub MCP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 — Vestavěný, automaticky dostupný (otázky o issues, PRs, commits...)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1" i="0">
                <a:solidFill>
                  <a:srgbClr val="E6EDF3"/>
                </a:solidFill>
                <a:latin typeface="Helvetica Neue"/>
              </a:rPr>
              <a:t>Vynucování zásad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 — Admini mohou blokovat MCP servery třetích stran (Business/Enterprise)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1" i="0">
                <a:solidFill>
                  <a:srgbClr val="E6EDF3"/>
                </a:solidFill>
                <a:latin typeface="Helvetica Neue"/>
              </a:rPr>
              <a:t>Konfigurace workspace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 — </a:t>
            </a:r>
            <a:r>
              <a:rPr sz="1800" b="0" i="0">
                <a:solidFill>
                  <a:srgbClr val="3FB950"/>
                </a:solidFill>
                <a:latin typeface="Menlo"/>
              </a:rPr>
              <a:t>.mcp.json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 nebo </a:t>
            </a:r>
            <a:r>
              <a:rPr sz="1800" b="0" i="0">
                <a:solidFill>
                  <a:srgbClr val="3FB950"/>
                </a:solidFill>
                <a:latin typeface="Menlo"/>
              </a:rPr>
              <a:t>.github/mcp.json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 pro týmové standardy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1" i="0">
                <a:solidFill>
                  <a:srgbClr val="E6EDF3"/>
                </a:solidFill>
                <a:latin typeface="Helvetica Neue"/>
              </a:rPr>
              <a:t>Kontrola nástrojů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 — </a:t>
            </a:r>
            <a:r>
              <a:rPr sz="1800" b="0" i="0">
                <a:solidFill>
                  <a:srgbClr val="3FB950"/>
                </a:solidFill>
                <a:latin typeface="Menlo"/>
              </a:rPr>
              <a:t>--add-github-mcp-tool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, </a:t>
            </a:r>
            <a:r>
              <a:rPr sz="1800" b="0" i="0">
                <a:solidFill>
                  <a:srgbClr val="3FB950"/>
                </a:solidFill>
                <a:latin typeface="Menlo"/>
              </a:rPr>
              <a:t>--disable-builtin-mcps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 pro podrobnou kontrolu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1" i="0">
                <a:solidFill>
                  <a:srgbClr val="E6EDF3"/>
                </a:solidFill>
                <a:latin typeface="Helvetica Neue"/>
              </a:rPr>
              <a:t>Konfigurace pouze v session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 — </a:t>
            </a:r>
            <a:r>
              <a:rPr sz="1800" b="0" i="0">
                <a:solidFill>
                  <a:srgbClr val="3FB950"/>
                </a:solidFill>
                <a:latin typeface="Menlo"/>
              </a:rPr>
              <a:t>--additional-mcp-config @file.json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 pro dočasné servery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3550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00" b="0" i="0">
                <a:solidFill>
                  <a:srgbClr val="8B949E"/>
                </a:solidFill>
                <a:latin typeface="Helvetica Neue"/>
              </a:rPr>
              <a:t>GitHub Copilot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7709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Menlo"/>
              </a:rPr>
              <a:t>33 / 57</a:t>
            </a:r>
          </a:p>
        </p:txBody>
      </p:sp>
      <p:sp>
        <p:nvSpPr>
          <p:cNvPr id="4" name="Oval 3"/>
          <p:cNvSpPr/>
          <p:nvPr/>
        </p:nvSpPr>
        <p:spPr>
          <a:xfrm>
            <a:off x="9601200" y="1371600"/>
            <a:ext cx="2286000" cy="2286000"/>
          </a:xfrm>
          <a:prstGeom prst="ellipse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286000"/>
            <a:ext cx="8229600" cy="182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7200" b="1" i="0">
                <a:solidFill>
                  <a:srgbClr val="E6EDF3"/>
                </a:solidFill>
                <a:latin typeface="Helvetica Neue"/>
              </a:rPr>
              <a:t>LSP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114800"/>
            <a:ext cx="8229600" cy="1371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800" b="0" i="0">
                <a:solidFill>
                  <a:srgbClr val="8B949E"/>
                </a:solidFill>
                <a:latin typeface="Helvetica Neue"/>
              </a:rPr>
              <a:t>Language Servers — code intelligence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3550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00" b="0" i="0">
                <a:solidFill>
                  <a:srgbClr val="8B949E"/>
                </a:solidFill>
                <a:latin typeface="Helvetica Neue"/>
              </a:rPr>
              <a:t>GitHub Copilot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7709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Menlo"/>
              </a:rPr>
              <a:t>34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FB950"/>
                </a:solidFill>
                <a:latin typeface="Helvetica Neue"/>
              </a:rPr>
              <a:t>LSP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400" b="1" i="0">
                <a:solidFill>
                  <a:srgbClr val="E6EDF3"/>
                </a:solidFill>
                <a:latin typeface="Helvetica Neue"/>
              </a:rPr>
              <a:t>Jazykové servery — LSP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820095" cy="429768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LSP = standardizovaný protokol pro code intelligence — typy, references, completions, diagnostics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Copilot se může připojit k jazykově specifickým serverům (TypeScript, Python, Rust, Go...)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Žádný LSP není zapnutý defaultně — musíš konfigurovat v </a:t>
            </a:r>
            <a:r>
              <a:rPr sz="1800" b="0" i="0">
                <a:solidFill>
                  <a:srgbClr val="3FB950"/>
                </a:solidFill>
                <a:latin typeface="Menlo"/>
              </a:rPr>
              <a:t>~/.copilot/lsp-config.json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Příklad: </a:t>
            </a:r>
            <a:r>
              <a:rPr sz="1800" b="0" i="0">
                <a:solidFill>
                  <a:srgbClr val="3FB950"/>
                </a:solidFill>
                <a:latin typeface="Menlo"/>
              </a:rPr>
              <a:t>gopls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 pro Go, </a:t>
            </a:r>
            <a:r>
              <a:rPr sz="1800" b="0" i="0">
                <a:solidFill>
                  <a:srgbClr val="3FB950"/>
                </a:solidFill>
                <a:latin typeface="Menlo"/>
              </a:rPr>
              <a:t>pyright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 pro Python, </a:t>
            </a:r>
            <a:r>
              <a:rPr sz="1800" b="0" i="0">
                <a:solidFill>
                  <a:srgbClr val="3FB950"/>
                </a:solidFill>
                <a:latin typeface="Menlo"/>
              </a:rPr>
              <a:t>typescript-language-server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 pro TS/JS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LSP rozšiřuje kontext — Copilot má přesnější znalost lokálního kódu (ne jen pattern matching)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3550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00" b="0" i="0">
                <a:solidFill>
                  <a:srgbClr val="8B949E"/>
                </a:solidFill>
                <a:latin typeface="Helvetica Neue"/>
              </a:rPr>
              <a:t>GitHub Copilot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7709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Menlo"/>
              </a:rPr>
              <a:t>35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FB950"/>
                </a:solidFill>
                <a:latin typeface="Helvetica Neue"/>
              </a:rPr>
              <a:t>LSP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400" b="1" i="0">
                <a:solidFill>
                  <a:srgbClr val="E6EDF3"/>
                </a:solidFill>
                <a:latin typeface="Helvetica Neue"/>
              </a:rPr>
              <a:t>Konfigurace LSP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20000"/>
              </a:lnSpc>
            </a:pPr>
            <a:r>
              <a:rPr sz="1800" b="0" i="0">
                <a:solidFill>
                  <a:srgbClr val="8B949E"/>
                </a:solidFill>
                <a:latin typeface="Helvetica Neue"/>
              </a:rPr>
              <a:t>Konfiguruj LSP servery v ~/.copilot/lsp-config.json (osobní) nebo .github/lsp.json (projekt):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560319"/>
            <a:ext cx="10820095" cy="3611881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761487"/>
            <a:ext cx="128016" cy="128016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5568" y="2761487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16736" y="2761487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743199"/>
            <a:ext cx="10362895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8B949E"/>
                </a:solidFill>
                <a:latin typeface="Menlo"/>
              </a:rPr>
              <a:t>lsp-config.json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081527"/>
            <a:ext cx="10271455" cy="290779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200" b="0" i="0">
                <a:solidFill>
                  <a:srgbClr val="E6EDF3"/>
                </a:solidFill>
                <a:latin typeface="Menlo"/>
              </a:rPr>
              <a:t>{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E6EDF3"/>
                </a:solidFill>
                <a:latin typeface="Menlo"/>
              </a:rPr>
              <a:t>  "lspServers": {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E6EDF3"/>
                </a:solidFill>
                <a:latin typeface="Menlo"/>
              </a:rPr>
              <a:t>    "typescript": {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E6EDF3"/>
                </a:solidFill>
                <a:latin typeface="Menlo"/>
              </a:rPr>
              <a:t>      "command": "typescript-language-server",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E6EDF3"/>
                </a:solidFill>
                <a:latin typeface="Menlo"/>
              </a:rPr>
              <a:t>      "args": ["--stdio"],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E6EDF3"/>
                </a:solidFill>
                <a:latin typeface="Menlo"/>
              </a:rPr>
              <a:t>      "fileExtensions": {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E6EDF3"/>
                </a:solidFill>
                <a:latin typeface="Menlo"/>
              </a:rPr>
              <a:t>        ".ts": "typescript",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E6EDF3"/>
                </a:solidFill>
                <a:latin typeface="Menlo"/>
              </a:rPr>
              <a:t>        ".tsx": "typescriptreact"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E6EDF3"/>
                </a:solidFill>
                <a:latin typeface="Menlo"/>
              </a:rPr>
              <a:t>      }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E6EDF3"/>
                </a:solidFill>
                <a:latin typeface="Menlo"/>
              </a:rPr>
              <a:t>    }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E6EDF3"/>
                </a:solidFill>
                <a:latin typeface="Menlo"/>
              </a:rPr>
              <a:t>  }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E6EDF3"/>
                </a:solidFill>
                <a:latin typeface="Menlo"/>
              </a:rPr>
              <a:t>}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3550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00" b="0" i="0">
                <a:solidFill>
                  <a:srgbClr val="8B949E"/>
                </a:solidFill>
                <a:latin typeface="Helvetica Neue"/>
              </a:rPr>
              <a:t>GitHub Copilot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7709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Menlo"/>
              </a:rPr>
              <a:t>36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FB950"/>
                </a:solidFill>
                <a:latin typeface="Helvetica Neue"/>
              </a:rPr>
              <a:t>LSP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400" b="1" i="0">
                <a:solidFill>
                  <a:srgbClr val="E6EDF3"/>
                </a:solidFill>
                <a:latin typeface="Helvetica Neue"/>
              </a:rPr>
              <a:t>Správa LSP a příkazy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820095" cy="429768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800" b="0" i="0">
                <a:solidFill>
                  <a:srgbClr val="3FB950"/>
                </a:solidFill>
                <a:latin typeface="Menlo"/>
              </a:rPr>
              <a:t>/lsp show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 — Seznam konfigurovaných LSP serverů a jejich stav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800" b="0" i="0">
                <a:solidFill>
                  <a:srgbClr val="3FB950"/>
                </a:solidFill>
                <a:latin typeface="Menlo"/>
              </a:rPr>
              <a:t>/lsp test NAME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 — Test, zda se konkrétní server spustí správně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800" b="0" i="0">
                <a:solidFill>
                  <a:srgbClr val="3FB950"/>
                </a:solidFill>
                <a:latin typeface="Menlo"/>
              </a:rPr>
              <a:t>/lsp reload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 — Znovu načíst konfiguraci LSP z disku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800" b="0" i="0">
                <a:solidFill>
                  <a:srgbClr val="3FB950"/>
                </a:solidFill>
                <a:latin typeface="Menlo"/>
              </a:rPr>
              <a:t>/lsp logs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 — Aktuální stav + logy serveru (ladění)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Konfigurace: </a:t>
            </a:r>
            <a:r>
              <a:rPr sz="1800" b="0" i="0">
                <a:solidFill>
                  <a:srgbClr val="3FB950"/>
                </a:solidFill>
                <a:latin typeface="Menlo"/>
              </a:rPr>
              <a:t>~/.copilot/lsp-config.json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 (osobní) · </a:t>
            </a:r>
            <a:r>
              <a:rPr sz="1800" b="0" i="0">
                <a:solidFill>
                  <a:srgbClr val="3FB950"/>
                </a:solidFill>
                <a:latin typeface="Menlo"/>
              </a:rPr>
              <a:t>.github/lsp.json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 (projekt)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Konfigurace projektu má prioritu — serverů projektu přepisují osobní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3550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00" b="0" i="0">
                <a:solidFill>
                  <a:srgbClr val="8B949E"/>
                </a:solidFill>
                <a:latin typeface="Helvetica Neue"/>
              </a:rPr>
              <a:t>GitHub Copilot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7709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Menlo"/>
              </a:rPr>
              <a:t>37 / 57</a:t>
            </a:r>
          </a:p>
        </p:txBody>
      </p:sp>
      <p:sp>
        <p:nvSpPr>
          <p:cNvPr id="4" name="Oval 3"/>
          <p:cNvSpPr/>
          <p:nvPr/>
        </p:nvSpPr>
        <p:spPr>
          <a:xfrm>
            <a:off x="9601200" y="1371600"/>
            <a:ext cx="2286000" cy="2286000"/>
          </a:xfrm>
          <a:prstGeom prst="ellipse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286000"/>
            <a:ext cx="8229600" cy="182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7200" b="1" i="0">
                <a:solidFill>
                  <a:srgbClr val="E6EDF3"/>
                </a:solidFill>
                <a:latin typeface="Helvetica Neue"/>
              </a:rPr>
              <a:t>PLUGINS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114800"/>
            <a:ext cx="8229600" cy="1371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800" b="0" i="0">
                <a:solidFill>
                  <a:srgbClr val="8B949E"/>
                </a:solidFill>
                <a:latin typeface="Helvetica Neue"/>
              </a:rPr>
              <a:t>Packaged integrations — bundlované rozšíření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3550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00" b="0" i="0">
                <a:solidFill>
                  <a:srgbClr val="8B949E"/>
                </a:solidFill>
                <a:latin typeface="Helvetica Neue"/>
              </a:rPr>
              <a:t>GitHub Copilot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7709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Menlo"/>
              </a:rPr>
              <a:t>38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FB950"/>
                </a:solidFill>
                <a:latin typeface="Helvetica Neue"/>
              </a:rPr>
              <a:t>PLUGINY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400" b="1" i="0">
                <a:solidFill>
                  <a:srgbClr val="E6EDF3"/>
                </a:solidFill>
                <a:latin typeface="Helvetica Neue"/>
              </a:rPr>
              <a:t>Co jsou pluginy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820095" cy="429768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Plugin = balené integrace — balí skills, agenty, hooks, MCP servery, LSP servery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Marketplace: github/copilot-plugins (oficiální), github/awesome-copilot (komunita), microsoft/work-iq-mcp (podnik)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Instalace: </a:t>
            </a:r>
            <a:r>
              <a:rPr sz="1800" b="0" i="0">
                <a:solidFill>
                  <a:srgbClr val="3FB950"/>
                </a:solidFill>
                <a:latin typeface="Menlo"/>
              </a:rPr>
              <a:t>/plugin install workiq@copilot-plugins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 nebo </a:t>
            </a:r>
            <a:r>
              <a:rPr sz="1800" b="0" i="0">
                <a:solidFill>
                  <a:srgbClr val="3FB950"/>
                </a:solidFill>
                <a:latin typeface="Menlo"/>
              </a:rPr>
              <a:t>copilot plugin install owner/repo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Audit před instalací: open source, aktivně spravován, minimální závislosti, žádné známé zranitelnosti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Omezení schopností: </a:t>
            </a:r>
            <a:r>
              <a:rPr sz="1800" b="0" i="0">
                <a:solidFill>
                  <a:srgbClr val="3FB950"/>
                </a:solidFill>
                <a:latin typeface="Menlo"/>
              </a:rPr>
              <a:t>--allow-tool 'plugin-name'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, </a:t>
            </a:r>
            <a:r>
              <a:rPr sz="1800" b="0" i="0">
                <a:solidFill>
                  <a:srgbClr val="3FB950"/>
                </a:solidFill>
                <a:latin typeface="Menlo"/>
              </a:rPr>
              <a:t>--deny-tool 'shell(rm)'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3550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00" b="0" i="0">
                <a:solidFill>
                  <a:srgbClr val="8B949E"/>
                </a:solidFill>
                <a:latin typeface="Helvetica Neue"/>
              </a:rPr>
              <a:t>GitHub Copilot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7709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Menlo"/>
              </a:rPr>
              <a:t>39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FB950"/>
                </a:solidFill>
                <a:latin typeface="Helvetica Neue"/>
              </a:rPr>
              <a:t>PLUGINY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400" b="1" i="0">
                <a:solidFill>
                  <a:srgbClr val="E6EDF3"/>
                </a:solidFill>
                <a:latin typeface="Helvetica Neue"/>
              </a:rPr>
              <a:t>Instalace pluginu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20000"/>
              </a:lnSpc>
            </a:pPr>
            <a:r>
              <a:rPr sz="1800" b="0" i="0">
                <a:solidFill>
                  <a:srgbClr val="8B949E"/>
                </a:solidFill>
                <a:latin typeface="Helvetica Neue"/>
              </a:rPr>
              <a:t>Pluginy se instalují z marketplace nebo z GitHubu — různé zdroje a způsoby: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560319"/>
            <a:ext cx="10820095" cy="3611881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761487"/>
            <a:ext cx="128016" cy="128016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5568" y="2761487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16736" y="2761487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743199"/>
            <a:ext cx="10362895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8B949E"/>
                </a:solidFill>
                <a:latin typeface="Menlo"/>
              </a:rPr>
              <a:t>Instalace pluginu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081527"/>
            <a:ext cx="10271455" cy="290779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200" b="0" i="0">
                <a:solidFill>
                  <a:srgbClr val="8B949E"/>
                </a:solidFill>
                <a:latin typeface="Menlo"/>
              </a:rPr>
              <a:t># Z marketplace v session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3FB950"/>
                </a:solidFill>
                <a:latin typeface="Menlo"/>
              </a:rPr>
              <a:t>/plugin install workiq@copilot-plugins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E6EDF3"/>
                </a:solidFill>
                <a:latin typeface="Helvetica Neue"/>
              </a:rPr>
              <a:t> 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8B949E"/>
                </a:solidFill>
                <a:latin typeface="Menlo"/>
              </a:rPr>
              <a:t># Z marketplace v shellu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E6EDF3"/>
                </a:solidFill>
                <a:latin typeface="Menlo"/>
              </a:rPr>
              <a:t>copilot plugin install workiq@copilot-plugins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E6EDF3"/>
                </a:solidFill>
                <a:latin typeface="Helvetica Neue"/>
              </a:rPr>
              <a:t> 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8B949E"/>
                </a:solidFill>
                <a:latin typeface="Menlo"/>
              </a:rPr>
              <a:t># Z GitHubu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E6EDF3"/>
                </a:solidFill>
                <a:latin typeface="Menlo"/>
              </a:rPr>
              <a:t>copilot plugin install owner/repo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E6EDF3"/>
                </a:solidFill>
                <a:latin typeface="Menlo"/>
              </a:rPr>
              <a:t>copilot plugin install owner/repo:plugins/my-plugin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E6EDF3"/>
                </a:solidFill>
                <a:latin typeface="Helvetica Neue"/>
              </a:rPr>
              <a:t> 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8B949E"/>
                </a:solidFill>
                <a:latin typeface="Menlo"/>
              </a:rPr>
              <a:t># Z git URL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E6EDF3"/>
                </a:solidFill>
                <a:latin typeface="Menlo"/>
              </a:rPr>
              <a:t>copilot plugin install https://github.com/owner/my-plugin.git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3550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00" b="0" i="0">
                <a:solidFill>
                  <a:srgbClr val="8B949E"/>
                </a:solidFill>
                <a:latin typeface="Helvetica Neue"/>
              </a:rPr>
              <a:t>GitHub Copilot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7709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Menlo"/>
              </a:rPr>
              <a:t>40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FB950"/>
                </a:solidFill>
                <a:latin typeface="Helvetica Neue"/>
              </a:rPr>
              <a:t>PLUGINY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400" b="1" i="0">
                <a:solidFill>
                  <a:srgbClr val="E6EDF3"/>
                </a:solidFill>
                <a:latin typeface="Helvetica Neue"/>
              </a:rPr>
              <a:t>Schopnosti pluginů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820095" cy="429768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Skills — znovupoužitelné instrukce pro specifické úkoly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Agenti — specializované persony s vlastní logikou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Hooks — automatizace životního cyklu (akce před/po)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MCP servery — nástroje a prostředky (API, DB, Slack...)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LSP servery — code intelligence (typy, references, completions)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Katalogy marketplace — objevitelné výpisy pluginů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3550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00" b="0" i="0">
                <a:solidFill>
                  <a:srgbClr val="8B949E"/>
                </a:solidFill>
                <a:latin typeface="Helvetica Neue"/>
              </a:rPr>
              <a:t>GitHub Copilot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7709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Menlo"/>
              </a:rPr>
              <a:t>41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FB950"/>
                </a:solidFill>
                <a:latin typeface="Helvetica Neue"/>
              </a:rPr>
              <a:t>PLUGINY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400" b="1" i="0">
                <a:solidFill>
                  <a:srgbClr val="E6EDF3"/>
                </a:solidFill>
                <a:latin typeface="Helvetica Neue"/>
              </a:rPr>
              <a:t>Bezpečnost — Kontrolní seznam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20000"/>
              </a:lnSpc>
            </a:pPr>
            <a:r>
              <a:rPr sz="1800" b="0" i="0">
                <a:solidFill>
                  <a:srgbClr val="8B949E"/>
                </a:solidFill>
                <a:latin typeface="Helvetica Neue"/>
              </a:rPr>
              <a:t>Před instalací jakéhokoliv pluginu zkontroluj: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560319"/>
            <a:ext cx="10820095" cy="3611881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761487"/>
            <a:ext cx="128016" cy="128016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5568" y="2761487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16736" y="2761487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743199"/>
            <a:ext cx="10362895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8B949E"/>
                </a:solidFill>
                <a:latin typeface="Menlo"/>
              </a:rPr>
              <a:t>Osvědčené postupy bezpečnosti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081527"/>
            <a:ext cx="10271455" cy="290779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100" b="0" i="0">
                <a:solidFill>
                  <a:srgbClr val="8B949E"/>
                </a:solidFill>
                <a:latin typeface="Menlo"/>
              </a:rPr>
              <a:t># Bezpečnostní kontrola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E6EDF3"/>
                </a:solidFill>
                <a:latin typeface="Menlo"/>
              </a:rPr>
              <a:t>- Zdrojový kód je otevřený a auditable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E6EDF3"/>
                </a:solidFill>
                <a:latin typeface="Menlo"/>
              </a:rPr>
              <a:t>- Aktivně se udržuje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E6EDF3"/>
                </a:solidFill>
                <a:latin typeface="Menlo"/>
              </a:rPr>
              <a:t>- Minimální závislosti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E6EDF3"/>
                </a:solidFill>
                <a:latin typeface="Menlo"/>
              </a:rPr>
              <a:t>- Žádné známé zranitelnosti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E6EDF3"/>
                </a:solidFill>
                <a:latin typeface="Menlo"/>
              </a:rPr>
              <a:t>- Jasné požadavky na oprávnění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E6EDF3"/>
                </a:solidFill>
                <a:latin typeface="Helvetica Neue"/>
              </a:rPr>
              <a:t> 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8B949E"/>
                </a:solidFill>
                <a:latin typeface="Menlo"/>
              </a:rPr>
              <a:t># Omezení možností pluginu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E6EDF3"/>
                </a:solidFill>
                <a:latin typeface="Menlo"/>
              </a:rPr>
              <a:t>copilot --allow-tool 'plugin-name'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E6EDF3"/>
                </a:solidFill>
                <a:latin typeface="Menlo"/>
              </a:rPr>
              <a:t>copilot --deny-tool 'shell(rm)'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3550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00" b="0" i="0">
                <a:solidFill>
                  <a:srgbClr val="8B949E"/>
                </a:solidFill>
                <a:latin typeface="Helvetica Neue"/>
              </a:rPr>
              <a:t>GitHub Copilot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7709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Menlo"/>
              </a:rPr>
              <a:t>42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FB950"/>
                </a:solidFill>
                <a:latin typeface="Helvetica Neue"/>
              </a:rPr>
              <a:t>PLUGINY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400" b="1" i="0">
                <a:solidFill>
                  <a:srgbClr val="E6EDF3"/>
                </a:solidFill>
                <a:latin typeface="Helvetica Neue"/>
              </a:rPr>
              <a:t>Zásobník rozšiřitelnosti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820095" cy="429768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Vestavěné nástroje: bash, view, create, edit, glob, grep (základní schopnosti)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MCP servery: připojení k externím systémům, API, databázím (rozšíření kontextu)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Skills: znovupoužitelné instrukce, šablony, osvědčené postupy (znalostní vrstva)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Pluginy: balené integrace — bundlují vše výše + agenty, hooks, LSP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Každá vrstva staví na té předchozí — pluginy jsou vrchol rozšiřitelnosti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3550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00" b="0" i="0">
                <a:solidFill>
                  <a:srgbClr val="8B949E"/>
                </a:solidFill>
                <a:latin typeface="Helvetica Neue"/>
              </a:rPr>
              <a:t>GitHub Copilot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7709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Menlo"/>
              </a:rPr>
              <a:t>43 / 57</a:t>
            </a:r>
          </a:p>
        </p:txBody>
      </p:sp>
      <p:sp>
        <p:nvSpPr>
          <p:cNvPr id="4" name="Oval 3"/>
          <p:cNvSpPr/>
          <p:nvPr/>
        </p:nvSpPr>
        <p:spPr>
          <a:xfrm>
            <a:off x="9601200" y="1371600"/>
            <a:ext cx="2286000" cy="2286000"/>
          </a:xfrm>
          <a:prstGeom prst="ellipse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286000"/>
            <a:ext cx="8229600" cy="182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7200" b="1" i="0">
                <a:solidFill>
                  <a:srgbClr val="E6EDF3"/>
                </a:solidFill>
                <a:latin typeface="Helvetica Neue"/>
              </a:rPr>
              <a:t>SESSIONS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114800"/>
            <a:ext cx="8229600" cy="1371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800" b="0" i="0">
                <a:solidFill>
                  <a:srgbClr val="8B949E"/>
                </a:solidFill>
                <a:latin typeface="Helvetica Neue"/>
              </a:rPr>
              <a:t>Správa sessions — persistentní konverzace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3550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00" b="0" i="0">
                <a:solidFill>
                  <a:srgbClr val="8B949E"/>
                </a:solidFill>
                <a:latin typeface="Helvetica Neue"/>
              </a:rPr>
              <a:t>GitHub Copilot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7709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Menlo"/>
              </a:rPr>
              <a:t>44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FB950"/>
                </a:solidFill>
                <a:latin typeface="Helvetica Neue"/>
              </a:rPr>
              <a:t>SESSIONS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400" b="1" i="0">
                <a:solidFill>
                  <a:srgbClr val="E6EDF3"/>
                </a:solidFill>
                <a:latin typeface="Helvetica Neue"/>
              </a:rPr>
              <a:t>Co je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820095" cy="429768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Session = udržuje aktuální konverzaci — historii, kontext, schválení, pracovní adresář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Persistuje na disk — můžeš ji pozastavit, vrátit se později, nebo pokračovat kde jsi skončil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Každá session má vlastní ID — můžeš ji pojmenovat </a:t>
            </a:r>
            <a:r>
              <a:rPr sz="1800" b="0" i="0">
                <a:solidFill>
                  <a:srgbClr val="3FB950"/>
                </a:solidFill>
                <a:latin typeface="Menlo"/>
              </a:rPr>
              <a:t>/rename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Obsah: prompty, odpovědi, schválené nástroje, soubory co jsi čtl/měnil, spotřeba tokenů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Výchozí chování: session pokračuje dokud nevyjdeš </a:t>
            </a:r>
            <a:r>
              <a:rPr sz="1800" b="0" i="0">
                <a:solidFill>
                  <a:srgbClr val="3FB950"/>
                </a:solidFill>
                <a:latin typeface="Menlo"/>
              </a:rPr>
              <a:t>/exit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 — </a:t>
            </a:r>
            <a:r>
              <a:rPr sz="1800" b="0" i="0">
                <a:solidFill>
                  <a:srgbClr val="3FB950"/>
                </a:solidFill>
                <a:latin typeface="Menlo"/>
              </a:rPr>
              <a:t>/new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 ji uloží na pozadí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3550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00" b="0" i="0">
                <a:solidFill>
                  <a:srgbClr val="8B949E"/>
                </a:solidFill>
                <a:latin typeface="Helvetica Neue"/>
              </a:rPr>
              <a:t>GitHub Copilot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7709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Menlo"/>
              </a:rPr>
              <a:t>45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FB950"/>
                </a:solidFill>
                <a:latin typeface="Helvetica Neue"/>
              </a:rPr>
              <a:t>SESSIONS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400" b="1" i="0">
                <a:solidFill>
                  <a:srgbClr val="E6EDF3"/>
                </a:solidFill>
                <a:latin typeface="Helvetica Neue"/>
              </a:rPr>
              <a:t>Klíčové příkazy pro sessions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820095" cy="429768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800" b="0" i="0">
                <a:solidFill>
                  <a:srgbClr val="3FB950"/>
                </a:solidFill>
                <a:latin typeface="Menlo"/>
              </a:rPr>
              <a:t>/session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 — Zobraz informace o session (ID, trvání, dotčené soubory)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800" b="0" i="0">
                <a:solidFill>
                  <a:srgbClr val="3FB950"/>
                </a:solidFill>
                <a:latin typeface="Menlo"/>
              </a:rPr>
              <a:t>/usage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 — Spotřeba tokenů a API volání v rámci session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800" b="0" i="0">
                <a:solidFill>
                  <a:srgbClr val="3FB950"/>
                </a:solidFill>
                <a:latin typeface="Menlo"/>
              </a:rPr>
              <a:t>/rename NAME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 — Pojmenuj svou session pro snadné vyhledání později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800" b="0" i="0">
                <a:solidFill>
                  <a:srgbClr val="3FB950"/>
                </a:solidFill>
                <a:latin typeface="Menlo"/>
              </a:rPr>
              <a:t>/clear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 — Opusť session a začni znovu (session je zrušena)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800" b="0" i="0">
                <a:solidFill>
                  <a:srgbClr val="3FB950"/>
                </a:solidFill>
                <a:latin typeface="Menlo"/>
              </a:rPr>
              <a:t>/new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 — Začni novou konverzaci (stará session zůstává na pozadí)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800" b="0" i="0">
                <a:solidFill>
                  <a:srgbClr val="3FB950"/>
                </a:solidFill>
                <a:latin typeface="Menlo"/>
              </a:rPr>
              <a:t>/resume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 — Přepni na předchozí session (výběr nebo zadej ID/jméno)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800" b="0" i="0">
                <a:solidFill>
                  <a:srgbClr val="3FB950"/>
                </a:solidFill>
                <a:latin typeface="Menlo"/>
              </a:rPr>
              <a:t>--continue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 — Obnoví poslední session z shellu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800" b="0" i="0">
                <a:solidFill>
                  <a:srgbClr val="3FB950"/>
                </a:solidFill>
                <a:latin typeface="Menlo"/>
              </a:rPr>
              <a:t>/share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 — Exportuj session (markdown, HTML, gist, nebo GitHub link)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800" b="0" i="0">
                <a:solidFill>
                  <a:srgbClr val="3FB950"/>
                </a:solidFill>
                <a:latin typeface="Menlo"/>
              </a:rPr>
              <a:t>/rewind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 nebo </a:t>
            </a:r>
            <a:r>
              <a:rPr sz="1800" b="0" i="0">
                <a:solidFill>
                  <a:srgbClr val="3FB950"/>
                </a:solidFill>
                <a:latin typeface="Menlo"/>
              </a:rPr>
              <a:t>/undo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 — Vrať poslední tah zpět a obnov změny souborů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800" b="0" i="0">
                <a:solidFill>
                  <a:srgbClr val="3FB950"/>
                </a:solidFill>
                <a:latin typeface="Menlo"/>
              </a:rPr>
              <a:t>/exit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 — Ukončí CLI; </a:t>
            </a:r>
            <a:r>
              <a:rPr sz="1800" b="0" i="0">
                <a:solidFill>
                  <a:srgbClr val="3FB950"/>
                </a:solidFill>
                <a:latin typeface="Menlo"/>
              </a:rPr>
              <a:t>/exit print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 vytiskne session po ukončení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3550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00" b="0" i="0">
                <a:solidFill>
                  <a:srgbClr val="8B949E"/>
                </a:solidFill>
                <a:latin typeface="Helvetica Neue"/>
              </a:rPr>
              <a:t>GitHub Copilot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7709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Menlo"/>
              </a:rPr>
              <a:t>46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FB950"/>
                </a:solidFill>
                <a:latin typeface="Helvetica Neue"/>
              </a:rPr>
              <a:t>SESSIONS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400" b="1" i="0">
                <a:solidFill>
                  <a:srgbClr val="E6EDF3"/>
                </a:solidFill>
                <a:latin typeface="Helvetica Neue"/>
              </a:rPr>
              <a:t>Data sessions a správa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820095" cy="429768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Data jsou v </a:t>
            </a:r>
            <a:r>
              <a:rPr sz="1800" b="0" i="0">
                <a:solidFill>
                  <a:srgbClr val="3FB950"/>
                </a:solidFill>
                <a:latin typeface="Menlo"/>
              </a:rPr>
              <a:t>~/.copilot/session-state/&lt;id&gt;/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 — přepis, checkpointy, snapshoty pro návraty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Index v </a:t>
            </a:r>
            <a:r>
              <a:rPr sz="1800" b="0" i="0">
                <a:solidFill>
                  <a:srgbClr val="3FB950"/>
                </a:solidFill>
                <a:latin typeface="Menlo"/>
              </a:rPr>
              <a:t>~/.copilot/session-store.db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 — používán příkazy </a:t>
            </a:r>
            <a:r>
              <a:rPr sz="1800" b="0" i="0">
                <a:solidFill>
                  <a:srgbClr val="3FB950"/>
                </a:solidFill>
                <a:latin typeface="Menlo"/>
              </a:rPr>
              <a:t>/session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, </a:t>
            </a:r>
            <a:r>
              <a:rPr sz="1800" b="0" i="0">
                <a:solidFill>
                  <a:srgbClr val="3FB950"/>
                </a:solidFill>
                <a:latin typeface="Menlo"/>
              </a:rPr>
              <a:t>/resume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, </a:t>
            </a:r>
            <a:r>
              <a:rPr sz="1800" b="0" i="0">
                <a:solidFill>
                  <a:srgbClr val="3FB950"/>
                </a:solidFill>
                <a:latin typeface="Menlo"/>
              </a:rPr>
              <a:t>--resume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Spravuj subcommands, ne </a:t>
            </a:r>
            <a:r>
              <a:rPr sz="1800" b="0" i="0">
                <a:solidFill>
                  <a:srgbClr val="3FB950"/>
                </a:solidFill>
                <a:latin typeface="Menlo"/>
              </a:rPr>
              <a:t>rm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 — </a:t>
            </a:r>
            <a:r>
              <a:rPr sz="1800" b="0" i="0">
                <a:solidFill>
                  <a:srgbClr val="3FB950"/>
                </a:solidFill>
                <a:latin typeface="Menlo"/>
              </a:rPr>
              <a:t>/session info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 (detail), </a:t>
            </a:r>
            <a:r>
              <a:rPr sz="1800" b="0" i="0">
                <a:solidFill>
                  <a:srgbClr val="3FB950"/>
                </a:solidFill>
                <a:latin typeface="Menlo"/>
              </a:rPr>
              <a:t>/session checkpoints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 (seznam)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800" b="0" i="0">
                <a:solidFill>
                  <a:srgbClr val="3FB950"/>
                </a:solidFill>
                <a:latin typeface="Menlo"/>
              </a:rPr>
              <a:t>/session files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 — dotčené soubory; </a:t>
            </a:r>
            <a:r>
              <a:rPr sz="1800" b="0" i="0">
                <a:solidFill>
                  <a:srgbClr val="3FB950"/>
                </a:solidFill>
                <a:latin typeface="Menlo"/>
              </a:rPr>
              <a:t>/session prune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 — vyčisti stará data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800" b="0" i="0">
                <a:solidFill>
                  <a:srgbClr val="3FB950"/>
                </a:solidFill>
                <a:latin typeface="Menlo"/>
              </a:rPr>
              <a:t>/session delete-all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 — smaž všechny sessions (pozor!)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3550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00" b="0" i="0">
                <a:solidFill>
                  <a:srgbClr val="8B949E"/>
                </a:solidFill>
                <a:latin typeface="Helvetica Neue"/>
              </a:rPr>
              <a:t>GitHub Copilot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7709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Menlo"/>
              </a:rPr>
              <a:t>47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FB950"/>
                </a:solidFill>
                <a:latin typeface="Helvetica Neue"/>
              </a:rPr>
              <a:t>SESSIONS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400" b="1" i="0">
                <a:solidFill>
                  <a:srgbClr val="E6EDF3"/>
                </a:solidFill>
                <a:latin typeface="Helvetica Neue"/>
              </a:rPr>
              <a:t>Kdy vyčistit, komprimovat, nebo začít novou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820095" cy="429768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Přechod na nesouvisející úkol → </a:t>
            </a:r>
            <a:r>
              <a:rPr sz="1800" b="0" i="0">
                <a:solidFill>
                  <a:srgbClr val="3FB950"/>
                </a:solidFill>
                <a:latin typeface="Menlo"/>
              </a:rPr>
              <a:t>/new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 (zachová starou) nebo </a:t>
            </a:r>
            <a:r>
              <a:rPr sz="1800" b="0" i="0">
                <a:solidFill>
                  <a:srgbClr val="3FB950"/>
                </a:solidFill>
                <a:latin typeface="Menlo"/>
              </a:rPr>
              <a:t>/clear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 (smaže)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Matoucí odpovědi nebo halucinace → </a:t>
            </a:r>
            <a:r>
              <a:rPr sz="1800" b="0" i="0">
                <a:solidFill>
                  <a:srgbClr val="3FB950"/>
                </a:solidFill>
                <a:latin typeface="Menlo"/>
              </a:rPr>
              <a:t>/new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 (čistý start)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Context limit se blíží → nejdřív </a:t>
            </a:r>
            <a:r>
              <a:rPr sz="1800" b="0" i="0">
                <a:solidFill>
                  <a:srgbClr val="3FB950"/>
                </a:solidFill>
                <a:latin typeface="Menlo"/>
              </a:rPr>
              <a:t>/compact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, pak </a:t>
            </a:r>
            <a:r>
              <a:rPr sz="1800" b="0" i="0">
                <a:solidFill>
                  <a:srgbClr val="3FB950"/>
                </a:solidFill>
                <a:latin typeface="Menlo"/>
              </a:rPr>
              <a:t>/new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 pokud je třeba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Citlivé informace diskutovány → </a:t>
            </a:r>
            <a:r>
              <a:rPr sz="1800" b="0" i="0">
                <a:solidFill>
                  <a:srgbClr val="3FB950"/>
                </a:solidFill>
                <a:latin typeface="Menlo"/>
              </a:rPr>
              <a:t>/clear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 a </a:t>
            </a:r>
            <a:r>
              <a:rPr sz="1800" b="0" i="0">
                <a:solidFill>
                  <a:srgbClr val="3FB950"/>
                </a:solidFill>
                <a:latin typeface="Menlo"/>
              </a:rPr>
              <a:t>/exit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 (vymaže session)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Session je pomalá nebo nafouklá → </a:t>
            </a:r>
            <a:r>
              <a:rPr sz="1800" b="0" i="0">
                <a:solidFill>
                  <a:srgbClr val="3FB950"/>
                </a:solidFill>
                <a:latin typeface="Menlo"/>
              </a:rPr>
              <a:t>/new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 (čistý context)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3550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00" b="0" i="0">
                <a:solidFill>
                  <a:srgbClr val="8B949E"/>
                </a:solidFill>
                <a:latin typeface="Helvetica Neue"/>
              </a:rPr>
              <a:t>GitHub Copilot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7709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Menlo"/>
              </a:rPr>
              <a:t>48 / 57</a:t>
            </a:r>
          </a:p>
        </p:txBody>
      </p:sp>
      <p:sp>
        <p:nvSpPr>
          <p:cNvPr id="4" name="Oval 3"/>
          <p:cNvSpPr/>
          <p:nvPr/>
        </p:nvSpPr>
        <p:spPr>
          <a:xfrm>
            <a:off x="9601200" y="1371600"/>
            <a:ext cx="2286000" cy="2286000"/>
          </a:xfrm>
          <a:prstGeom prst="ellipse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286000"/>
            <a:ext cx="8229600" cy="182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7200" b="1" i="0">
                <a:solidFill>
                  <a:srgbClr val="E6EDF3"/>
                </a:solidFill>
                <a:latin typeface="Helvetica Neue"/>
              </a:rPr>
              <a:t>CHRONICLE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114800"/>
            <a:ext cx="8229600" cy="1371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800" b="0" i="0">
                <a:solidFill>
                  <a:srgbClr val="8B949E"/>
                </a:solidFill>
                <a:latin typeface="Helvetica Neue"/>
              </a:rPr>
              <a:t>Session-history insights a personalizace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3550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00" b="0" i="0">
                <a:solidFill>
                  <a:srgbClr val="8B949E"/>
                </a:solidFill>
                <a:latin typeface="Helvetica Neue"/>
              </a:rPr>
              <a:t>GitHub Copilot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7709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Menlo"/>
              </a:rPr>
              <a:t>49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FB950"/>
                </a:solidFill>
                <a:latin typeface="Helvetica Neue"/>
              </a:rPr>
              <a:t>CHRONICLE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400" b="1" i="0">
                <a:solidFill>
                  <a:srgbClr val="E6EDF3"/>
                </a:solidFill>
                <a:latin typeface="Helvetica Neue"/>
              </a:rPr>
              <a:t>Co je Chronicle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820095" cy="429768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Chronicle = experimentální funkce pro analýzu tvé session history — co jsi dělal, co se opakovalo, jak optimalizovat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Pracuje na disku v </a:t>
            </a:r>
            <a:r>
              <a:rPr sz="1800" b="0" i="0">
                <a:solidFill>
                  <a:srgbClr val="3FB950"/>
                </a:solidFill>
                <a:latin typeface="Menlo"/>
              </a:rPr>
              <a:t>~/.copilot/session-store/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 — indexuje všechny sessions a jejich obsah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Pomáhá zlepšit prompt engineering — tipy jak lépe psát prompty pro tento projekt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Optimalizace nákladů — ukazuje kde utrácíš tokeny a jak je ušetřit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Zdokonalování instrukcí — návrhy jak zlepšit tvůj </a:t>
            </a:r>
            <a:r>
              <a:rPr sz="1800" b="0" i="0">
                <a:solidFill>
                  <a:srgbClr val="3FB950"/>
                </a:solidFill>
                <a:latin typeface="Menlo"/>
              </a:rPr>
              <a:t>.copilot-instructions.md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3550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00" b="0" i="0">
                <a:solidFill>
                  <a:srgbClr val="8B949E"/>
                </a:solidFill>
                <a:latin typeface="Helvetica Neue"/>
              </a:rPr>
              <a:t>GitHub Copilot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7709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Menlo"/>
              </a:rPr>
              <a:t>50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FB950"/>
                </a:solidFill>
                <a:latin typeface="Helvetica Neue"/>
              </a:rPr>
              <a:t>CHRONICLE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400" b="1" i="0">
                <a:solidFill>
                  <a:srgbClr val="E6EDF3"/>
                </a:solidFill>
                <a:latin typeface="Helvetica Neue"/>
              </a:rPr>
              <a:t>Příkazy Chronicle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820095" cy="429768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800" b="0" i="0">
                <a:solidFill>
                  <a:srgbClr val="3FB950"/>
                </a:solidFill>
                <a:latin typeface="Menlo"/>
              </a:rPr>
              <a:t>/chronicle standup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 — Tvá práce z posledního dne (co jsi udělal, na čem jsi pracoval)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800" b="0" i="0">
                <a:solidFill>
                  <a:srgbClr val="3FB950"/>
                </a:solidFill>
                <a:latin typeface="Menlo"/>
              </a:rPr>
              <a:t>/chronicle search QUERY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 — Hledej v obsahu všech sessions (grep přes všechny sessions)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800" b="0" i="0">
                <a:solidFill>
                  <a:srgbClr val="3FB950"/>
                </a:solidFill>
                <a:latin typeface="Menlo"/>
              </a:rPr>
              <a:t>/chronicle tips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 — Personalizované tipy na použití (jak lépe používat Copilot v tomto projektu)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800" b="0" i="0">
                <a:solidFill>
                  <a:srgbClr val="3FB950"/>
                </a:solidFill>
                <a:latin typeface="Menlo"/>
              </a:rPr>
              <a:t>/chronicle cost-tips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 — Sniž spotřebu tokenů a náklady (kde ušetřit tokeny)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800" b="0" i="0">
                <a:solidFill>
                  <a:srgbClr val="3FB950"/>
                </a:solidFill>
                <a:latin typeface="Menlo"/>
              </a:rPr>
              <a:t>/chronicle improve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 — Zlepši copilot-instructions.md (návrhy jak zlepšit instrukce)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800" b="0" i="0">
                <a:solidFill>
                  <a:srgbClr val="3FB950"/>
                </a:solidFill>
                <a:latin typeface="Menlo"/>
              </a:rPr>
              <a:t>/chronicle reindex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 — Znovu načti index úložiště sessions (znovu naindexovat sessions)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3550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00" b="0" i="0">
                <a:solidFill>
                  <a:srgbClr val="8B949E"/>
                </a:solidFill>
                <a:latin typeface="Helvetica Neue"/>
              </a:rPr>
              <a:t>GitHub Copilot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7709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Menlo"/>
              </a:rPr>
              <a:t>51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FB950"/>
                </a:solidFill>
                <a:latin typeface="Helvetica Neue"/>
              </a:rPr>
              <a:t>CHRONICLE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400" b="1" i="0">
                <a:solidFill>
                  <a:srgbClr val="E6EDF3"/>
                </a:solidFill>
                <a:latin typeface="Helvetica Neue"/>
              </a:rPr>
              <a:t>Tipy Chronicle — Příklad výsledků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20000"/>
              </a:lnSpc>
            </a:pPr>
            <a:r>
              <a:rPr sz="1800" b="0" i="0">
                <a:solidFill>
                  <a:srgbClr val="8B949E"/>
                </a:solidFill>
                <a:latin typeface="Helvetica Neue"/>
              </a:rPr>
              <a:t>Praktická doporučení z tvé session history: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560319"/>
            <a:ext cx="10820095" cy="3611881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761487"/>
            <a:ext cx="128016" cy="128016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5568" y="2761487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16736" y="2761487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743199"/>
            <a:ext cx="10362895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8B949E"/>
                </a:solidFill>
                <a:latin typeface="Menlo"/>
              </a:rPr>
              <a:t>Terminal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081527"/>
            <a:ext cx="10271455" cy="290779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200" b="0" i="0">
                <a:solidFill>
                  <a:srgbClr val="8B949E"/>
                </a:solidFill>
                <a:latin typeface="Menlo"/>
              </a:rPr>
              <a:t># Tipy na optimalizaci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E6EDF3"/>
                </a:solidFill>
                <a:latin typeface="Helvetica Neue"/>
              </a:rPr>
              <a:t> 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E6EDF3"/>
                </a:solidFill>
                <a:latin typeface="Menlo"/>
              </a:rPr>
              <a:t>1. Používej @ pro zmínění souborů místo vkládání -&gt; Ušetří tokeny a lepší kontext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E6EDF3"/>
                </a:solidFill>
                <a:latin typeface="Helvetica Neue"/>
              </a:rPr>
              <a:t> 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E6EDF3"/>
                </a:solidFill>
                <a:latin typeface="Menlo"/>
              </a:rPr>
              <a:t>2. Iteruj v rámci jedné session, nezačínej znovu -&gt; Zachová historii konverzace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E6EDF3"/>
                </a:solidFill>
                <a:latin typeface="Helvetica Neue"/>
              </a:rPr>
              <a:t> 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E6EDF3"/>
                </a:solidFill>
                <a:latin typeface="Menlo"/>
              </a:rPr>
              <a:t>3. Zkus /research pro průzkumnou práci -&gt; Strukturovaný výzkum bez hlavní session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E6EDF3"/>
                </a:solidFill>
                <a:latin typeface="Helvetica Neue"/>
              </a:rPr>
              <a:t> 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E6EDF3"/>
                </a:solidFill>
                <a:latin typeface="Menlo"/>
              </a:rPr>
              <a:t>4. Přeměň opakující se prompty na vlastního agenta -&gt; Automatizuj opakující se úkoly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E6EDF3"/>
                </a:solidFill>
                <a:latin typeface="Helvetica Neue"/>
              </a:rPr>
              <a:t> 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E6EDF3"/>
                </a:solidFill>
                <a:latin typeface="Menlo"/>
              </a:rPr>
              <a:t>5. Používej plan mode pro vícestupňovou práci -&gt; Design, Kód, Testy, Review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3550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00" b="0" i="0">
                <a:solidFill>
                  <a:srgbClr val="8B949E"/>
                </a:solidFill>
                <a:latin typeface="Helvetica Neue"/>
              </a:rPr>
              <a:t>GitHub Copilot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7709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Menlo"/>
              </a:rPr>
              <a:t>52 / 57</a:t>
            </a:r>
          </a:p>
        </p:txBody>
      </p:sp>
      <p:sp>
        <p:nvSpPr>
          <p:cNvPr id="4" name="Oval 3"/>
          <p:cNvSpPr/>
          <p:nvPr/>
        </p:nvSpPr>
        <p:spPr>
          <a:xfrm>
            <a:off x="9601200" y="1371600"/>
            <a:ext cx="2286000" cy="2286000"/>
          </a:xfrm>
          <a:prstGeom prst="ellipse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286000"/>
            <a:ext cx="8229600" cy="182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7200" b="1" i="0">
                <a:solidFill>
                  <a:srgbClr val="E6EDF3"/>
                </a:solidFill>
                <a:latin typeface="Helvetica Neue"/>
              </a:rPr>
              <a:t>HOOKS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114800"/>
            <a:ext cx="8229600" cy="1371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800" b="0" i="0">
                <a:solidFill>
                  <a:srgbClr val="8B949E"/>
                </a:solidFill>
                <a:latin typeface="Helvetica Neue"/>
              </a:rPr>
              <a:t>Custom scripts na klíčových bodech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3550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00" b="0" i="0">
                <a:solidFill>
                  <a:srgbClr val="8B949E"/>
                </a:solidFill>
                <a:latin typeface="Helvetica Neue"/>
              </a:rPr>
              <a:t>GitHub Copilot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7709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Menlo"/>
              </a:rPr>
              <a:t>53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FB950"/>
                </a:solidFill>
                <a:latin typeface="Helvetica Neue"/>
              </a:rPr>
              <a:t>HOOKS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400" b="1" i="0">
                <a:solidFill>
                  <a:srgbClr val="E6EDF3"/>
                </a:solidFill>
                <a:latin typeface="Helvetica Neue"/>
              </a:rPr>
              <a:t>Co jsou hooks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820095" cy="429768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Hooks = vlastní skripty běžící v klíčových bodech agent lifecycle — logování, bezpečnost, audit, upozornění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Životní cyklus: Prompt → Session Start → Pre-Tool → Execute → Post-Tool → Session End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Každý bod má hook — </a:t>
            </a:r>
            <a:r>
              <a:rPr sz="1800" b="0" i="0">
                <a:solidFill>
                  <a:srgbClr val="3FB950"/>
                </a:solidFill>
                <a:latin typeface="Menlo"/>
              </a:rPr>
              <a:t>onPrompt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, </a:t>
            </a:r>
            <a:r>
              <a:rPr sz="1800" b="0" i="0">
                <a:solidFill>
                  <a:srgbClr val="3FB950"/>
                </a:solidFill>
                <a:latin typeface="Menlo"/>
              </a:rPr>
              <a:t>onSessionStart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, </a:t>
            </a:r>
            <a:r>
              <a:rPr sz="1800" b="0" i="0">
                <a:solidFill>
                  <a:srgbClr val="3FB950"/>
                </a:solidFill>
                <a:latin typeface="Menlo"/>
              </a:rPr>
              <a:t>preToolUse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, </a:t>
            </a:r>
            <a:r>
              <a:rPr sz="1800" b="0" i="0">
                <a:solidFill>
                  <a:srgbClr val="3FB950"/>
                </a:solidFill>
                <a:latin typeface="Menlo"/>
              </a:rPr>
              <a:t>postToolUse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, </a:t>
            </a:r>
            <a:r>
              <a:rPr sz="1800" b="0" i="0">
                <a:solidFill>
                  <a:srgbClr val="3FB950"/>
                </a:solidFill>
                <a:latin typeface="Menlo"/>
              </a:rPr>
              <a:t>onSessionEnd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Případy použití: bezpečnostní mantinely (zkontroluj před spuštěním shell), audit (loguj akce), upozornění (upozorni na problém)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Konfiguruje se v </a:t>
            </a:r>
            <a:r>
              <a:rPr sz="1800" b="0" i="0">
                <a:solidFill>
                  <a:srgbClr val="3FB950"/>
                </a:solidFill>
                <a:latin typeface="Menlo"/>
              </a:rPr>
              <a:t>.github/hooks/*.json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 — ať už hooks.json, auth.json, či custom-hooks.json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3550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00" b="0" i="0">
                <a:solidFill>
                  <a:srgbClr val="8B949E"/>
                </a:solidFill>
                <a:latin typeface="Helvetica Neue"/>
              </a:rPr>
              <a:t>GitHub Copilot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7709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Menlo"/>
              </a:rPr>
              <a:t>54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FB950"/>
                </a:solidFill>
                <a:latin typeface="Helvetica Neue"/>
              </a:rPr>
              <a:t>HOOKS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400" b="1" i="0">
                <a:solidFill>
                  <a:srgbClr val="E6EDF3"/>
                </a:solidFill>
                <a:latin typeface="Helvetica Neue"/>
              </a:rPr>
              <a:t>Konfigurace hooks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20000"/>
              </a:lnSpc>
            </a:pPr>
            <a:r>
              <a:rPr sz="1800" b="0" i="0">
                <a:solidFill>
                  <a:srgbClr val="8B949E"/>
                </a:solidFill>
                <a:latin typeface="Helvetica Neue"/>
              </a:rPr>
              <a:t>Hooks se konfigurují v .github/hooks/ jako JSON s bash skripty: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560319"/>
            <a:ext cx="10820095" cy="3611881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761487"/>
            <a:ext cx="128016" cy="128016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5568" y="2761487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16736" y="2761487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743199"/>
            <a:ext cx="10362895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8B949E"/>
                </a:solidFill>
                <a:latin typeface="Menlo"/>
              </a:rPr>
              <a:t>Terminal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081527"/>
            <a:ext cx="10271455" cy="290779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E6EDF3"/>
                </a:solidFill>
                <a:latin typeface="Menlo"/>
              </a:rPr>
              <a:t>{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E6EDF3"/>
                </a:solidFill>
                <a:latin typeface="Menlo"/>
              </a:rPr>
              <a:t>  "hooks": {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E6EDF3"/>
                </a:solidFill>
                <a:latin typeface="Menlo"/>
              </a:rPr>
              <a:t>    "preToolUse": [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E6EDF3"/>
                </a:solidFill>
                <a:latin typeface="Menlo"/>
              </a:rPr>
              <a:t>      {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E6EDF3"/>
                </a:solidFill>
                <a:latin typeface="Menlo"/>
              </a:rPr>
              <a:t>        "type": "command",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E6EDF3"/>
                </a:solidFill>
                <a:latin typeface="Menlo"/>
              </a:rPr>
              <a:t>        "bash": ".github/hooks/scripts/check-tool.sh",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E6EDF3"/>
                </a:solidFill>
                <a:latin typeface="Menlo"/>
              </a:rPr>
              <a:t>        "cwd": ".",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E6EDF3"/>
                </a:solidFill>
                <a:latin typeface="Menlo"/>
              </a:rPr>
              <a:t>        "timeoutSec": 10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E6EDF3"/>
                </a:solidFill>
                <a:latin typeface="Menlo"/>
              </a:rPr>
              <a:t>      }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E6EDF3"/>
                </a:solidFill>
                <a:latin typeface="Menlo"/>
              </a:rPr>
              <a:t>    ]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E6EDF3"/>
                </a:solidFill>
                <a:latin typeface="Menlo"/>
              </a:rPr>
              <a:t>  }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E6EDF3"/>
                </a:solidFill>
                <a:latin typeface="Menlo"/>
              </a:rPr>
              <a:t>}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3550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00" b="0" i="0">
                <a:solidFill>
                  <a:srgbClr val="8B949E"/>
                </a:solidFill>
                <a:latin typeface="Helvetica Neue"/>
              </a:rPr>
              <a:t>GitHub Copilot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7709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Menlo"/>
              </a:rPr>
              <a:t>55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FB950"/>
                </a:solidFill>
                <a:latin typeface="Helvetica Neue"/>
              </a:rPr>
              <a:t>HOOKS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960120"/>
            <a:ext cx="10820095" cy="29718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161288"/>
            <a:ext cx="128016" cy="128016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" y="1161288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16736" y="1161288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143000"/>
            <a:ext cx="10362895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8B949E"/>
                </a:solidFill>
                <a:latin typeface="Menlo"/>
              </a:rPr>
              <a:t>Hook PeonPing</a:t>
            </a:r>
          </a:p>
        </p:txBody>
      </p:sp>
      <p:pic>
        <p:nvPicPr>
          <p:cNvPr id="10" name="Picture 9" descr="peon-ping-h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572768"/>
            <a:ext cx="5089289" cy="22677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4114800"/>
            <a:ext cx="10820095" cy="21031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56032" indent="-256032">
              <a:lnSpc>
                <a:spcPct val="115000"/>
              </a:lnSpc>
              <a:spcAft>
                <a:spcPts val="1000"/>
              </a:spcAft>
              <a:buClr>
                <a:srgbClr val="3FB950"/>
              </a:buClr>
              <a:buFont typeface="Arial"/>
              <a:buChar char="•"/>
            </a:pPr>
            <a:r>
              <a:rPr sz="1600" b="1" i="0">
                <a:solidFill>
                  <a:srgbClr val="E6EDF3"/>
                </a:solidFill>
                <a:latin typeface="Helvetica Neue"/>
              </a:rPr>
              <a:t>Bezpečnostní mantinely</a:t>
            </a:r>
            <a:r>
              <a:rPr sz="1600" b="0" i="0">
                <a:solidFill>
                  <a:srgbClr val="E6EDF3"/>
                </a:solidFill>
                <a:latin typeface="Helvetica Neue"/>
              </a:rPr>
              <a:t> — Zkontroluj před spuštěním shell / edit (žádný </a:t>
            </a:r>
            <a:r>
              <a:rPr sz="1500" b="0" i="0">
                <a:solidFill>
                  <a:srgbClr val="3FB950"/>
                </a:solidFill>
                <a:latin typeface="Menlo"/>
              </a:rPr>
              <a:t>rm -rf</a:t>
            </a:r>
            <a:r>
              <a:rPr sz="1600" b="0" i="0">
                <a:solidFill>
                  <a:srgbClr val="E6EDF3"/>
                </a:solidFill>
                <a:latin typeface="Helvetica Neue"/>
              </a:rPr>
              <a:t>, žádné citlivé cesty)</a:t>
            </a:r>
          </a:p>
          <a:p>
            <a:pPr marL="256032" indent="-256032">
              <a:lnSpc>
                <a:spcPct val="115000"/>
              </a:lnSpc>
              <a:spcAft>
                <a:spcPts val="1000"/>
              </a:spcAft>
              <a:buClr>
                <a:srgbClr val="3FB950"/>
              </a:buClr>
              <a:buFont typeface="Arial"/>
              <a:buChar char="•"/>
            </a:pPr>
            <a:r>
              <a:rPr sz="1600" b="1" i="0">
                <a:solidFill>
                  <a:srgbClr val="E6EDF3"/>
                </a:solidFill>
                <a:latin typeface="Helvetica Neue"/>
              </a:rPr>
              <a:t>Auditing</a:t>
            </a:r>
            <a:r>
              <a:rPr sz="1600" b="0" i="0">
                <a:solidFill>
                  <a:srgbClr val="E6EDF3"/>
                </a:solidFill>
                <a:latin typeface="Helvetica Neue"/>
              </a:rPr>
              <a:t> — Loguj všechny akce do audit trail (kdo, co, kdy, proč)</a:t>
            </a:r>
          </a:p>
          <a:p>
            <a:pPr marL="256032" indent="-256032">
              <a:lnSpc>
                <a:spcPct val="115000"/>
              </a:lnSpc>
              <a:spcAft>
                <a:spcPts val="1000"/>
              </a:spcAft>
              <a:buClr>
                <a:srgbClr val="3FB950"/>
              </a:buClr>
              <a:buFont typeface="Arial"/>
              <a:buChar char="•"/>
            </a:pPr>
            <a:r>
              <a:rPr sz="1600" b="1" i="0">
                <a:solidFill>
                  <a:srgbClr val="E6EDF3"/>
                </a:solidFill>
                <a:latin typeface="Helvetica Neue"/>
              </a:rPr>
              <a:t>Upozornění</a:t>
            </a:r>
            <a:r>
              <a:rPr sz="1600" b="0" i="0">
                <a:solidFill>
                  <a:srgbClr val="E6EDF3"/>
                </a:solidFill>
                <a:latin typeface="Helvetica Neue"/>
              </a:rPr>
              <a:t> — Upozorni, když agent dělá něco neobvyklého (náhle smaže &gt; 100 souborů)</a:t>
            </a:r>
          </a:p>
          <a:p>
            <a:pPr marL="256032" indent="-256032">
              <a:lnSpc>
                <a:spcPct val="115000"/>
              </a:lnSpc>
              <a:spcAft>
                <a:spcPts val="1000"/>
              </a:spcAft>
              <a:buClr>
                <a:srgbClr val="3FB950"/>
              </a:buClr>
              <a:buFont typeface="Arial"/>
              <a:buChar char="•"/>
            </a:pPr>
            <a:r>
              <a:rPr sz="1600" b="1" i="0">
                <a:solidFill>
                  <a:srgbClr val="E6EDF3"/>
                </a:solidFill>
                <a:latin typeface="Helvetica Neue"/>
              </a:rPr>
              <a:t>Vlastní ověřování</a:t>
            </a:r>
            <a:r>
              <a:rPr sz="1600" b="0" i="0">
                <a:solidFill>
                  <a:srgbClr val="E6EDF3"/>
                </a:solidFill>
                <a:latin typeface="Helvetica Neue"/>
              </a:rPr>
              <a:t> — Vynucuj compliance pravidla (git commit message, branch protection)</a:t>
            </a:r>
          </a:p>
          <a:p>
            <a:pPr marL="256032" indent="-256032">
              <a:lnSpc>
                <a:spcPct val="115000"/>
              </a:lnSpc>
              <a:spcAft>
                <a:spcPts val="1000"/>
              </a:spcAft>
              <a:buClr>
                <a:srgbClr val="3FB950"/>
              </a:buClr>
              <a:buFont typeface="Arial"/>
              <a:buChar char="•"/>
            </a:pPr>
            <a:r>
              <a:rPr sz="1600" b="0" i="0">
                <a:solidFill>
                  <a:srgbClr val="E6EDF3"/>
                </a:solidFill>
                <a:latin typeface="Helvetica Neue"/>
              </a:rPr>
              <a:t>PeonPing je referenční implementace hooks pro více AI CLI nástrojů: https://github.com/PeonPing/peon-ping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3550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00" b="0" i="0">
                <a:solidFill>
                  <a:srgbClr val="8B949E"/>
                </a:solidFill>
                <a:latin typeface="Helvetica Neue"/>
              </a:rPr>
              <a:t>GitHub Copilot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7709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Menlo"/>
              </a:rPr>
              <a:t>56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FB950"/>
                </a:solidFill>
                <a:latin typeface="Helvetica Neue"/>
              </a:rPr>
              <a:t>POKROČILÉ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400" b="1" i="0">
                <a:solidFill>
                  <a:srgbClr val="E6EDF3"/>
                </a:solidFill>
                <a:latin typeface="Helvetica Neue"/>
              </a:rPr>
              <a:t>Fleet mode — Paralelní agenti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820095" cy="429768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Fleet = orchestrace paralelních sub-agentů — více agentů pracuje na různých částech zároveň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Orchestrator rozdělí úkol, spustí 9+ agentů paralelně, validuje, kombinuje: </a:t>
            </a:r>
            <a:r>
              <a:rPr sz="1800" b="0" i="0">
                <a:solidFill>
                  <a:srgbClr val="3FB950"/>
                </a:solidFill>
                <a:latin typeface="Menlo"/>
              </a:rPr>
              <a:t>Ag1|Ag2|Ag3|Ag4 → Konsolidovaný výstup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Příkaz: </a:t>
            </a:r>
            <a:r>
              <a:rPr sz="1800" b="0" i="0">
                <a:solidFill>
                  <a:srgbClr val="3FB950"/>
                </a:solidFill>
                <a:latin typeface="Menlo"/>
              </a:rPr>
              <a:t>/fleet "Přepracuj všechny komponenty na TypeScript a přidej testy"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Orchestrator automaticky rozpočítá (Ag1→components/, Ag2→utils/, Ag3→types, Ag4→tests)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3FB950"/>
              </a:buClr>
              <a:buFont typeface="Arial"/>
              <a:buChar char="•"/>
            </a:pPr>
            <a:r>
              <a:rPr sz="1900" b="0" i="0">
                <a:solidFill>
                  <a:srgbClr val="E6EDF3"/>
                </a:solidFill>
                <a:latin typeface="Helvetica Neue"/>
              </a:rPr>
              <a:t>Případ použití: masivní refactor, přepis na jiný jazyk, cleanup — </a:t>
            </a:r>
            <a:r>
              <a:rPr sz="1900" b="1" i="0">
                <a:solidFill>
                  <a:srgbClr val="E6EDF3"/>
                </a:solidFill>
                <a:latin typeface="Helvetica Neue"/>
              </a:rPr>
              <a:t>4x rychleji</a:t>
            </a:r>
            <a:r>
              <a:rPr sz="1900" b="0" i="0">
                <a:solidFill>
                  <a:srgbClr val="E6EDF3"/>
                </a:solidFill>
                <a:latin typeface="Helvetica Neue"/>
              </a:rPr>
              <a:t> než sekvenčně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3550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00" b="0" i="0">
                <a:solidFill>
                  <a:srgbClr val="8B949E"/>
                </a:solidFill>
                <a:latin typeface="Helvetica Neue"/>
              </a:rPr>
              <a:t>GitHub Copilot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7709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Menlo"/>
              </a:rPr>
              <a:t>57 /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651760"/>
            <a:ext cx="9445752" cy="10972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5200" b="1" i="0">
                <a:solidFill>
                  <a:srgbClr val="E6EDF3"/>
                </a:solidFill>
                <a:latin typeface="Helvetica Neue"/>
              </a:rPr>
              <a:t>Děkujeme!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703320"/>
            <a:ext cx="9445752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3FB950"/>
                </a:solidFill>
                <a:latin typeface="Menlo"/>
              </a:rPr>
              <a:t>Otázky?  ·  docs.github.com/copilot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